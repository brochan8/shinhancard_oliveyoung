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87" r:id="rId2"/>
    <p:sldId id="449" r:id="rId3"/>
    <p:sldId id="452" r:id="rId4"/>
    <p:sldId id="450" r:id="rId5"/>
    <p:sldId id="444" r:id="rId6"/>
    <p:sldId id="451" r:id="rId7"/>
    <p:sldId id="453" r:id="rId8"/>
    <p:sldId id="454" r:id="rId9"/>
    <p:sldId id="463" r:id="rId10"/>
    <p:sldId id="462" r:id="rId11"/>
    <p:sldId id="460" r:id="rId12"/>
    <p:sldId id="456" r:id="rId13"/>
    <p:sldId id="459" r:id="rId14"/>
    <p:sldId id="458" r:id="rId15"/>
    <p:sldId id="457" r:id="rId16"/>
    <p:sldId id="365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1308"/>
    <a:srgbClr val="460F06"/>
    <a:srgbClr val="F2F2F2"/>
    <a:srgbClr val="A6A6A6"/>
    <a:srgbClr val="912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98" autoAdjust="0"/>
    <p:restoredTop sz="92197" autoAdjust="0"/>
  </p:normalViewPr>
  <p:slideViewPr>
    <p:cSldViewPr snapToGrid="0">
      <p:cViewPr varScale="1">
        <p:scale>
          <a:sx n="103" d="100"/>
          <a:sy n="103" d="100"/>
        </p:scale>
        <p:origin x="972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1CA9F-EDC3-4106-A7E7-4058ACF986DD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AF99E-1938-4F4F-B79A-92EB0EAA94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163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043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7442-7B64-7B70-EAB5-08904088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E57331-FED8-E2FB-7424-21F598EF73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BAA51E-0D42-4DCA-1121-2880875A9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25C8E5-7BB3-855C-11F5-7444040AA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512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712AF-72B6-CB97-FCF3-DD8FF9EE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2A65B3-A9DF-1B0C-770E-9695591A0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B861A0-D88A-8680-F92B-7744143C4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1D65C-0272-0094-6A89-7403D188F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203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5C2BF-E41D-0CE3-5003-07EEAB50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B681EA-333C-0005-8489-4BDD2B1CE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FC29A28-0814-15D7-A712-BF6E924D2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DA21C2-34DC-A13F-039B-BF50BA9EB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26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2F53-12DD-716F-AE77-835D2915B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DBCC4F-619E-1178-B5D0-97764B245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6A858E-1507-4CDB-72E3-83C39F573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5DEDD3-CEC9-597A-C5AD-75266B020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38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D2302-C973-F9E2-18AC-A0279FEDB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B3DB77-5472-C961-3FD9-D95EEF91B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B74BE-A398-7E89-A709-4E45E0D17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0E197-1D19-0F80-5EE1-78D0FB60BF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6510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888A-0621-4AF2-F36D-64355445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82ADFC-9AFE-0243-C305-549FB70E36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94B821E-43C5-097C-CD31-FCF958989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CA5C23-88FB-CBC3-5519-9ED587C55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435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53101-D5DF-83F8-02D2-4B85BBA90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3255EE-622A-A9BE-F6AC-1050D24A2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8197E6-1574-5775-0A90-DD8F3990B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A290B-42D1-E42B-C833-2CA62AFD4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512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A98B6-98F0-624F-8294-AEC85102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B6CFB8-B4C4-4D46-69B7-37AA8537A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340093-4CD9-F652-C2FA-14D4E8E16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38FA7-C099-B639-6E5D-2AD49D245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781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8777-4149-24D9-EF4F-AAA87EB3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D7BA79-620D-036A-2AFF-423F27BE2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A76F68-45E0-E697-3D6D-CEC497069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13577E-C808-EA07-A332-BA6CEE5BE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857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472D-88FC-FC6A-B084-84EE667B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C5DF46-FE50-9622-3A58-C7E947E57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75FB7D-E2C9-7E4A-52C1-D9061D0F7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D0654F-1BBE-0BDE-E63B-1ED9C918C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160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B96B4-9F66-2F66-72D5-E602DC43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2AF13-6B5F-C20B-9A52-02B73E91D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D48E3E-D6D8-6C22-D51E-57475AEBD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D2EF48-7DAF-4BB3-DB72-8039EFC76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544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4252F-4E6B-D2C3-7291-6104A55E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05ECEB-187E-0B70-3B22-B62CC81B0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598471-82DD-3CE3-5B8B-00A41B87E8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52961C-4315-0833-6A25-15F989A7B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308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2063D-ABB9-91E4-34E2-656E782A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F4D3A0-AFE4-67E8-E8AF-F1160249B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F07F99-AB46-A24E-9145-7A7FFDEE5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1EAD4-4AF4-24AB-6AB6-5FDCC54DD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054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F571-27F4-DB8A-05CF-2FC70BB1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465E79-C356-DE5F-3122-6FFAD3937C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32F21E-97F3-4942-FF98-45BF57092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B6345A-B98F-50C0-0AF6-9DE4D5F38B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AF99E-1938-4F4F-B79A-92EB0EAA940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639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1E0FA-8C18-4508-906C-D3E78E5B3C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498555-FEE5-419C-AD71-ED2C1BA4A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2E2A78-0D53-494C-ADCE-F729732B0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ED0698-88E3-4C9C-BE45-31475C7FC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FAEE96-4702-464F-B7B2-C4F93D67C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91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E12F4-2389-46AC-8E7F-EF2B3FAF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B482A8-C3B5-4B0D-B5F6-83FCE145D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E8E345-6F7D-4FE6-9891-4D4E4EFD1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F3544A-5842-469A-BFBB-B4BC20C2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F0FF38-B923-45AF-A919-4E28D407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9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B51BD-BE10-4C62-ACB8-5A467EA5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7FCE8C-D337-4160-BF25-0488596EC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7C66C-197A-4660-95A0-65D6280C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979BC7-DD8B-4C4E-9599-4A8E5674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899D28-AB84-442F-B812-E039E4E43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21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E7E5B-D86C-4C09-A899-D5DD0EA9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6A771-74FF-46E1-9185-EEB0A2EBC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1E5540-37CC-4CB1-A80B-AA78F6B40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709D00-955E-45D6-B889-E68FABF5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9881B4-2B21-448D-93F0-8C257FF8A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6F446C-9A27-4B18-86FB-D64B2ED8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639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0C41F-1A21-4A73-B819-D47F262A3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9E410B-B901-418A-955C-7D495D562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C7055F-0C3F-40A0-A996-DB9DA0FA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ACD0F-19E9-4053-B5ED-DDA27E6BEB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60FE27B-D604-440A-B307-BBA3E706A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10669A-8F1F-4F44-BDEB-7A13EFCC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B95DAB-D177-4A42-B5FC-CB8FA5B4C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87BB6F-E1A6-4567-BB90-5C341F4E6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77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18DAF-E9E6-4751-8CF4-E6AB60B5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64A8B2-70CB-4CB3-B695-7FA4BFBE9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65B5E9-11B5-44AB-A41A-0E6B01A7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D7D66C-D9FD-4660-A766-3DAD4E25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989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4707245-885A-40CB-9886-9098D440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05E5933-7C0F-4F08-A5D7-9E0F23290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D61ADF-969A-4D37-A834-30F02BA2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8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35A3B-7F67-44F8-A3D6-B18652789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71063A-F2E3-41F0-A63B-75ED95228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C4BA91-0D24-47B3-B1C3-01F0D2AFA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612B86-91E7-4BF0-B288-B112732A4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ADF9D-3223-4BAE-A89E-A44E85CE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720FC9-4644-46C1-9DEB-8EF7050E8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56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23CEE-20EE-457A-A79D-31F161BD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8DA56C-26A3-46E7-920B-928A788420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0250F8-2410-477A-903C-6915AC36A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C88833-CE9B-44F2-8D48-81F16EBE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E5CB2D-636C-4A08-BB36-19AF06114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0CE191-83AB-4A7F-8D21-85491597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17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E43F22-FFAA-4AD9-AEDD-64612195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BAC854-26A3-44D6-BF83-8478DB156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7E64AA-3AD0-4D28-A464-132C302E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58EEC4-0C5D-4DC8-85C4-76468636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D0EFCA-4CE0-4A0E-845E-950FCB0F0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02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B38C5A-9D7C-4FA3-A938-A09DD5FFB0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F5BDB-AAAD-4982-B35B-9601F6E75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82847C-4BE1-4D7A-B385-28FF2CF3D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904ACF-F4DC-4177-9868-ED93BA81F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74D96-9C90-4643-85C0-E28EA462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479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1FE60-FD3A-4505-914E-4F96149F4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7F40F2-70EE-42F1-A63A-958E3B6B6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9B1B8-3392-49D6-9DD4-845BAAEAAF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B38035-E7B8-414A-984F-14B20F169C0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FFA029-2C3C-4D53-B672-EAE86336E8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1C64F9-65C0-4491-9ABF-D3AA0837B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0E485-BE83-4F21-9157-E82BE5934D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02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4FD097-E64C-4217-896C-863256493DA6}"/>
              </a:ext>
            </a:extLst>
          </p:cNvPr>
          <p:cNvSpPr txBox="1"/>
          <p:nvPr/>
        </p:nvSpPr>
        <p:spPr>
          <a:xfrm>
            <a:off x="-10359" y="2469133"/>
            <a:ext cx="121716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ko-KR" sz="3200" b="1" dirty="0" err="1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Shinhancard</a:t>
            </a:r>
            <a:r>
              <a:rPr lang="en-US" altLang="ko-KR" sz="3200" b="1" dirty="0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3200" b="1" dirty="0" err="1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Oliveyoung</a:t>
            </a:r>
            <a:r>
              <a:rPr lang="en-US" altLang="ko-KR" sz="3200" b="1" dirty="0">
                <a:solidFill>
                  <a:srgbClr val="581308"/>
                </a:solidFill>
                <a:latin typeface="Malgun Gothic"/>
                <a:ea typeface="Malgun Gothic"/>
                <a:cs typeface="Malgun Gothic"/>
                <a:sym typeface="Malgun Gothic"/>
              </a:rPr>
              <a:t> Project</a:t>
            </a:r>
            <a:endParaRPr lang="ko-KR" altLang="en-US" sz="2400" dirty="0">
              <a:solidFill>
                <a:srgbClr val="58130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85;p1">
            <a:extLst>
              <a:ext uri="{FF2B5EF4-FFF2-40B4-BE49-F238E27FC236}">
                <a16:creationId xmlns:a16="http://schemas.microsoft.com/office/drawing/2014/main" id="{D642E767-7043-47CD-A86C-668C993B7681}"/>
              </a:ext>
            </a:extLst>
          </p:cNvPr>
          <p:cNvSpPr txBox="1"/>
          <p:nvPr/>
        </p:nvSpPr>
        <p:spPr>
          <a:xfrm>
            <a:off x="6757316" y="5226774"/>
            <a:ext cx="445219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Malgun Gothic"/>
                <a:ea typeface="Malgun Gothic"/>
                <a:cs typeface="Malgun Gothic"/>
                <a:sym typeface="Malgun Gothic"/>
              </a:rPr>
              <a:t>조형찬 박사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b="1"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b="1" dirty="0">
                <a:latin typeface="Malgun Gothic"/>
                <a:ea typeface="Malgun Gothic"/>
                <a:cs typeface="Malgun Gothic"/>
                <a:sym typeface="Malgun Gothic"/>
              </a:rPr>
              <a:t>yugnalgum@khu.ac.kr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EC064-41F6-51D2-34EA-1B0BB07E256D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836CB1-9F1D-D170-3803-562149D2D09F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AAED187-4D2F-90B4-E542-BEB15142F024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36B4769-6F42-F8E8-C49F-49D3B238710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9EBBB7D-2187-6ED6-2190-4F5974485FBA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253594-83E1-7564-DBCF-C67D9CBDBD47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EC2C46B-22CB-824F-CB5D-C2A998A3937E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E66F070-52DA-7DFC-0B1C-F6427BB01D9E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5A20A1-CF89-0941-CB67-AAABDB62F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7407" y="274466"/>
            <a:ext cx="16764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8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15E40-AE44-D336-3CD0-47B6545A2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0B2CC9F-E8FB-61F8-A224-3441E6E0408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4E12DCC-557E-8843-9A93-E02542D66F78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588D85-499D-298B-847A-D03BC3C8C893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A368936-0928-1A04-051B-C7CC6D3486F6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C6408F-4498-EFAA-79CB-CA41957D3790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1B0CBE-268D-74C9-5FD7-B6FFF25AEFB6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DAC907-0558-0E8C-B481-07A3CDC827AA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DD1920-47B3-E37B-C826-D78702708BD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334DD14-6898-26EE-B5EA-57F7D48CD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469" y="1119239"/>
            <a:ext cx="5009704" cy="3759739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8D1E485-0B5D-341C-C307-85E9395E5D7D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쿠폰의 효과 추정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13038-686E-2617-350D-97E248F9D0B6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</a:t>
            </a:r>
          </a:p>
        </p:txBody>
      </p:sp>
      <p:sp>
        <p:nvSpPr>
          <p:cNvPr id="13" name="Google Shape;101;p3">
            <a:extLst>
              <a:ext uri="{FF2B5EF4-FFF2-40B4-BE49-F238E27FC236}">
                <a16:creationId xmlns:a16="http://schemas.microsoft.com/office/drawing/2014/main" id="{08B93ED3-9FA7-4459-F7C2-356F2F40E4F1}"/>
              </a:ext>
            </a:extLst>
          </p:cNvPr>
          <p:cNvSpPr txBox="1"/>
          <p:nvPr/>
        </p:nvSpPr>
        <p:spPr>
          <a:xfrm>
            <a:off x="547961" y="1358668"/>
            <a:ext cx="11437125" cy="391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다운받은 고객이 실제로 소비를 늘렸는가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?</a:t>
            </a:r>
            <a:endParaRPr lang="ko-KR" altLang="en-US" b="1" dirty="0"/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효과의 공정한 추정을 위한 조건</a:t>
            </a:r>
            <a:endParaRPr lang="en-US" altLang="ko-KR"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en-US" altLang="ko-KR" sz="1600" i="1" dirty="0">
                <a:latin typeface="Abel" panose="02000506030000020004" pitchFamily="2" charset="0"/>
              </a:rPr>
              <a:t>· </a:t>
            </a:r>
            <a:r>
              <a:rPr lang="ko-KR" altLang="en-US" sz="1600" i="1" dirty="0"/>
              <a:t>쿠폰을 다운받은 집단</a:t>
            </a:r>
            <a:r>
              <a:rPr lang="en-US" altLang="ko-KR" sz="1600" i="1" dirty="0"/>
              <a:t>(Treatment)</a:t>
            </a:r>
            <a:r>
              <a:rPr lang="ko-KR" altLang="en-US" sz="1600" i="1" dirty="0"/>
              <a:t>과 그렇지 않은 집단</a:t>
            </a:r>
            <a:r>
              <a:rPr lang="en-US" altLang="ko-KR" sz="1600" i="1" dirty="0"/>
              <a:t>(Control)</a:t>
            </a:r>
            <a:br>
              <a:rPr lang="en-US" altLang="ko-KR" sz="1600" i="1" dirty="0"/>
            </a:br>
            <a:r>
              <a:rPr lang="en-US" altLang="ko-KR" sz="1600" i="1" dirty="0"/>
              <a:t>    </a:t>
            </a:r>
            <a:r>
              <a:rPr lang="ko-KR" altLang="en-US" sz="1600" i="1" dirty="0"/>
              <a:t>이 두 집단의 성향이 어느정도 같아야 한다</a:t>
            </a:r>
            <a:r>
              <a:rPr lang="en-US" altLang="ko-KR" sz="1600" i="1" dirty="0"/>
              <a:t>.</a:t>
            </a:r>
            <a:endParaRPr lang="ko-KR" altLang="en-US" sz="1600" i="1" dirty="0"/>
          </a:p>
          <a:p>
            <a:pPr lvl="0">
              <a:lnSpc>
                <a:spcPct val="110000"/>
              </a:lnSpc>
            </a:pPr>
            <a:endParaRPr lang="en-US" altLang="ko-KR" sz="1600" i="1" dirty="0"/>
          </a:p>
          <a:p>
            <a:pPr lvl="0">
              <a:lnSpc>
                <a:spcPct val="110000"/>
              </a:lnSpc>
            </a:pPr>
            <a:r>
              <a:rPr lang="ko-KR" altLang="en-US" sz="1600" i="1" dirty="0"/>
              <a:t>   </a:t>
            </a:r>
            <a:r>
              <a:rPr lang="en-US" altLang="ko-KR" sz="1600" i="1" dirty="0">
                <a:latin typeface="Abel" panose="02000506030000020004" pitchFamily="2" charset="0"/>
              </a:rPr>
              <a:t>·</a:t>
            </a:r>
            <a:r>
              <a:rPr lang="ko-KR" altLang="en-US" sz="1600" i="1" dirty="0">
                <a:latin typeface="Abel" panose="02000506030000020004" pitchFamily="2" charset="0"/>
              </a:rPr>
              <a:t>성향이 같은 집단으로 샘플링이 되지 않은 상태에서</a:t>
            </a:r>
            <a:br>
              <a:rPr lang="en-US" altLang="ko-KR" sz="1600" i="1" dirty="0">
                <a:latin typeface="Abel" panose="02000506030000020004" pitchFamily="2" charset="0"/>
              </a:rPr>
            </a:br>
            <a:r>
              <a:rPr lang="en-US" altLang="ko-KR" sz="1600" i="1" dirty="0">
                <a:latin typeface="Abel" panose="02000506030000020004" pitchFamily="2" charset="0"/>
              </a:rPr>
              <a:t>      </a:t>
            </a:r>
            <a:r>
              <a:rPr lang="ko-KR" altLang="en-US" sz="1600" i="1" dirty="0">
                <a:latin typeface="Abel" panose="02000506030000020004" pitchFamily="2" charset="0"/>
              </a:rPr>
              <a:t>단순 평균 비교만으로는</a:t>
            </a:r>
            <a:br>
              <a:rPr lang="en-US" altLang="ko-KR" sz="1600" i="1" dirty="0">
                <a:latin typeface="Abel" panose="02000506030000020004" pitchFamily="2" charset="0"/>
              </a:rPr>
            </a:br>
            <a:r>
              <a:rPr lang="en-US" altLang="ko-KR" sz="1600" i="1" dirty="0">
                <a:latin typeface="Abel" panose="02000506030000020004" pitchFamily="2" charset="0"/>
              </a:rPr>
              <a:t>      </a:t>
            </a:r>
            <a:r>
              <a:rPr lang="ko-KR" altLang="en-US" sz="1600" i="1" dirty="0">
                <a:latin typeface="Abel" panose="02000506030000020004" pitchFamily="2" charset="0"/>
              </a:rPr>
              <a:t>메시지의  </a:t>
            </a:r>
            <a:r>
              <a:rPr lang="en-US" altLang="ko-KR" sz="1600" i="1" dirty="0">
                <a:latin typeface="Abel" panose="02000506030000020004" pitchFamily="2" charset="0"/>
              </a:rPr>
              <a:t>‘</a:t>
            </a:r>
            <a:r>
              <a:rPr lang="ko-KR" altLang="en-US" sz="1600" i="1" dirty="0">
                <a:latin typeface="Abel" panose="02000506030000020004" pitchFamily="2" charset="0"/>
              </a:rPr>
              <a:t>순수한 효과</a:t>
            </a:r>
            <a:r>
              <a:rPr lang="en-US" altLang="ko-KR" sz="1600" i="1" dirty="0">
                <a:latin typeface="Abel" panose="02000506030000020004" pitchFamily="2" charset="0"/>
              </a:rPr>
              <a:t>’ </a:t>
            </a:r>
            <a:r>
              <a:rPr lang="ko-KR" altLang="en-US" sz="1600" i="1" dirty="0">
                <a:latin typeface="Abel" panose="02000506030000020004" pitchFamily="2" charset="0"/>
              </a:rPr>
              <a:t>를 구별하기 어렵다</a:t>
            </a:r>
            <a:r>
              <a:rPr lang="en-US" altLang="ko-KR" sz="1600" i="1" dirty="0">
                <a:latin typeface="Abel" panose="02000506030000020004" pitchFamily="2" charset="0"/>
              </a:rPr>
              <a:t>.</a:t>
            </a:r>
            <a:endParaRPr lang="en-US" altLang="ko-KR" sz="1600" i="1" dirty="0"/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lvl="0">
              <a:lnSpc>
                <a:spcPct val="110000"/>
              </a:lnSpc>
            </a:pP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285750" lvl="0" indent="-285750">
              <a:lnSpc>
                <a:spcPct val="110000"/>
              </a:lnSpc>
              <a:buFontTx/>
              <a:buChar char="-"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집단의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Selection Bias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 완화시키기 위한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PSM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수행</a:t>
            </a:r>
            <a:b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이후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t-test (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기존연구에서는 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Heckman </a:t>
            </a: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모델 활용</a:t>
            </a:r>
            <a:r>
              <a:rPr lang="en-US" alt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5773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4C6BE-FB70-819E-A4F0-FBC210E6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C68A02-DC08-26A2-0128-CEDD348BC0E8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837D8FF-88A0-9A4F-D825-209C5FAC3C4E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B1D9513-274C-B903-D9D2-5D8900549D87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69B625-2D94-3B1F-FF93-8E9495375E0C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BEBA85-8F0F-CED5-0060-E55159FB46E4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43752A9-0464-D50D-6951-835EAA788BE4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197316-6FF6-5442-5A7A-8952C227F56E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D2EF0C-E86F-D2B3-1B20-7A5112CCFA33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353FD01E-ED7A-E528-D457-BC65DCD96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064552"/>
              </p:ext>
            </p:extLst>
          </p:nvPr>
        </p:nvGraphicFramePr>
        <p:xfrm>
          <a:off x="710975" y="1332562"/>
          <a:ext cx="8747161" cy="53264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8500">
                  <a:extLst>
                    <a:ext uri="{9D8B030D-6E8A-4147-A177-3AD203B41FA5}">
                      <a16:colId xmlns:a16="http://schemas.microsoft.com/office/drawing/2014/main" val="3655845054"/>
                    </a:ext>
                  </a:extLst>
                </a:gridCol>
                <a:gridCol w="6688661">
                  <a:extLst>
                    <a:ext uri="{9D8B030D-6E8A-4147-A177-3AD203B41FA5}">
                      <a16:colId xmlns:a16="http://schemas.microsoft.com/office/drawing/2014/main" val="2955272886"/>
                    </a:ext>
                  </a:extLst>
                </a:gridCol>
              </a:tblGrid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SEX_GB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Sex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2904824837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AGE_GB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Age group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610455598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NI_DE_YM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Month when my credit card was issued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484958252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PERIOD_M</a:t>
                      </a:r>
                      <a:endParaRPr lang="en-US" sz="17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Time since my credit card issued (month)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304137867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AVG_36_M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by credit card in the last 36 months (month)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403101673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AVG_12_M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by credit card in 2018 (month)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95804982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USE_CNT_18Y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(Olive Young) store visits in 2018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570270860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USE_AMT_18Y1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in (Olive Young) stores in 2018 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982153323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CNT_18Y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times to respond to messages in 2018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773353194"/>
                  </a:ext>
                </a:extLst>
              </a:tr>
              <a:tr h="3544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CNT_18Y_OLV</a:t>
                      </a:r>
                      <a:endParaRPr lang="en-US" sz="17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times to respond to Olive Young messages in 2018</a:t>
                      </a:r>
                      <a:endParaRPr lang="en-US" sz="17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66326085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MSG_GB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700" u="none" strike="noStrike" dirty="0">
                          <a:effectLst/>
                        </a:rPr>
                        <a:t>Message (0 vs. 1 vs. 2 vs. 3 vs. 4 vs. 5)</a:t>
                      </a:r>
                      <a:endParaRPr lang="da-DK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047238149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APP_PS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Channel (only through the application)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498213972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PMSG_SD_D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Timing (Jan 11 vs. Jan 15 vs. Jan 17)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276039804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WEEK_GB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Week (Weekday vs. Weekend)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568674395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OFF_YN</a:t>
                      </a:r>
                      <a:endParaRPr lang="en-US" sz="1700" b="1" i="0" u="none" strike="noStrike" dirty="0">
                        <a:solidFill>
                          <a:srgbClr val="0070C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Respond to message (0 vs. 1)</a:t>
                      </a:r>
                      <a:endParaRPr lang="en-US" sz="17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441527116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MSG_OFF_GAP</a:t>
                      </a:r>
                      <a:endParaRPr lang="en-US" sz="17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time to respond to message (second)</a:t>
                      </a:r>
                      <a:endParaRPr lang="en-US" sz="17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3135412161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OLI_USE_CNT</a:t>
                      </a:r>
                      <a:endParaRPr lang="en-US" sz="17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Number of (Olive Young) store visits </a:t>
                      </a:r>
                      <a:endParaRPr lang="en-US" sz="17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432199095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>
                          <a:effectLst/>
                        </a:rPr>
                        <a:t>GAP_MIN1</a:t>
                      </a:r>
                      <a:endParaRPr lang="en-US" sz="17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Time to visit (Olive Young) store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1864074414"/>
                  </a:ext>
                </a:extLst>
              </a:tr>
              <a:tr h="276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GAP_MIN1_USE</a:t>
                      </a:r>
                      <a:endParaRPr lang="en-US" sz="17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700" u="none" strike="noStrike" dirty="0">
                          <a:effectLst/>
                        </a:rPr>
                        <a:t>Amount spent in (Olive Young) stores </a:t>
                      </a:r>
                      <a:endParaRPr lang="en-US" sz="17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맑은 고딕" panose="020B0503020000020004" pitchFamily="50" charset="-127"/>
                      </a:endParaRPr>
                    </a:p>
                  </a:txBody>
                  <a:tcPr marL="8967" marR="8967" marT="8967" marB="0" anchor="ctr"/>
                </a:tc>
                <a:extLst>
                  <a:ext uri="{0D108BD9-81ED-4DB2-BD59-A6C34878D82A}">
                    <a16:rowId xmlns:a16="http://schemas.microsoft.com/office/drawing/2014/main" val="27067163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3595923-223A-8CFB-1CC2-AD98628D9DD6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EE38B2-C317-6321-8693-6388E8E67DDA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Variables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48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092F-AA60-878E-08FF-0D6449C61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A99258-4242-D3FA-5B66-AD2E8F4C8DC4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42D84C-8A65-60A2-EF70-B37B06E668C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90A3636-D3B9-80A9-8F3B-79A8C5E7FF89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AB305D-A04C-3267-9024-99B523F6A42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BEB1E5-20E8-844C-0322-A8A44355EDD8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5EDB94-88CC-A65B-1ACF-83C926D65389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A20BD7-125D-1122-2485-34A47D2040ED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E40E14-2D59-F31A-D235-B0CE99275C61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EF037B8-6E72-8E42-7C58-EAEF1FEE0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847"/>
          <a:stretch>
            <a:fillRect/>
          </a:stretch>
        </p:blipFill>
        <p:spPr>
          <a:xfrm>
            <a:off x="7791677" y="1536898"/>
            <a:ext cx="4034798" cy="37038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2850A40-342C-21DF-A5BC-817F45741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198" y="1316948"/>
            <a:ext cx="7374711" cy="414378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3199FEC-7F84-10DE-9D45-CAF9D2A1777C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Results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11FCEB3-97C6-21CF-E77A-195AD6E64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61757"/>
              </p:ext>
            </p:extLst>
          </p:nvPr>
        </p:nvGraphicFramePr>
        <p:xfrm>
          <a:off x="588797" y="5527396"/>
          <a:ext cx="8210748" cy="10972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088106">
                  <a:extLst>
                    <a:ext uri="{9D8B030D-6E8A-4147-A177-3AD203B41FA5}">
                      <a16:colId xmlns:a16="http://schemas.microsoft.com/office/drawing/2014/main" val="4238886209"/>
                    </a:ext>
                  </a:extLst>
                </a:gridCol>
                <a:gridCol w="2647038">
                  <a:extLst>
                    <a:ext uri="{9D8B030D-6E8A-4147-A177-3AD203B41FA5}">
                      <a16:colId xmlns:a16="http://schemas.microsoft.com/office/drawing/2014/main" val="4231489435"/>
                    </a:ext>
                  </a:extLst>
                </a:gridCol>
                <a:gridCol w="2372530">
                  <a:extLst>
                    <a:ext uri="{9D8B030D-6E8A-4147-A177-3AD203B41FA5}">
                      <a16:colId xmlns:a16="http://schemas.microsoft.com/office/drawing/2014/main" val="1930251654"/>
                    </a:ext>
                  </a:extLst>
                </a:gridCol>
                <a:gridCol w="2103074">
                  <a:extLst>
                    <a:ext uri="{9D8B030D-6E8A-4147-A177-3AD203B41FA5}">
                      <a16:colId xmlns:a16="http://schemas.microsoft.com/office/drawing/2014/main" val="4052555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안 한 그룹</a:t>
                      </a:r>
                      <a:r>
                        <a:rPr lang="en-US" altLang="ko-KR" dirty="0"/>
                        <a:t>(0)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한 그룹</a:t>
                      </a:r>
                      <a:r>
                        <a:rPr lang="en-US" altLang="ko-KR" dirty="0"/>
                        <a:t>(1)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평균 지출액 차이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52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5.67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3.14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8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7.39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1.40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7116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7B4E949-6673-C7C4-B88C-C23A287BDEF5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 &amp; t-test</a:t>
            </a:r>
          </a:p>
        </p:txBody>
      </p:sp>
    </p:spTree>
    <p:extLst>
      <p:ext uri="{BB962C8B-B14F-4D97-AF65-F5344CB8AC3E}">
        <p14:creationId xmlns:p14="http://schemas.microsoft.com/office/powerpoint/2010/main" val="116223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034CC-581A-A1FA-6CF3-1EB8CE3A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2154823-E580-25D2-E263-5F972AA860D8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2CE07F3-3FD4-831D-C0F4-AA56041D630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708B13-7B4D-E674-6908-171FC38D4F33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F9502A-10FC-0081-DB7A-2D7923572F4E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3DDDF5C-F8F0-1D77-CD3E-30760CB84952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8CD9E8-8B58-9C0C-3A25-597D3392F702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4BC310-F53C-710A-61C8-D36842F9053E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B064E3-6518-B718-492D-6191A666BCCE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D233FB9-B7A3-2050-7DBB-E4D5B0EB78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93"/>
          <a:stretch>
            <a:fillRect/>
          </a:stretch>
        </p:blipFill>
        <p:spPr>
          <a:xfrm>
            <a:off x="588797" y="1691439"/>
            <a:ext cx="6177587" cy="3774336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29F5765-1502-FF37-A99D-5EC5393F707F}"/>
              </a:ext>
            </a:extLst>
          </p:cNvPr>
          <p:cNvGraphicFramePr>
            <a:graphicFrameLocks noGrp="1"/>
          </p:cNvGraphicFramePr>
          <p:nvPr/>
        </p:nvGraphicFramePr>
        <p:xfrm>
          <a:off x="588797" y="5527396"/>
          <a:ext cx="8210748" cy="109728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088106">
                  <a:extLst>
                    <a:ext uri="{9D8B030D-6E8A-4147-A177-3AD203B41FA5}">
                      <a16:colId xmlns:a16="http://schemas.microsoft.com/office/drawing/2014/main" val="4238886209"/>
                    </a:ext>
                  </a:extLst>
                </a:gridCol>
                <a:gridCol w="2647038">
                  <a:extLst>
                    <a:ext uri="{9D8B030D-6E8A-4147-A177-3AD203B41FA5}">
                      <a16:colId xmlns:a16="http://schemas.microsoft.com/office/drawing/2014/main" val="4231489435"/>
                    </a:ext>
                  </a:extLst>
                </a:gridCol>
                <a:gridCol w="2372530">
                  <a:extLst>
                    <a:ext uri="{9D8B030D-6E8A-4147-A177-3AD203B41FA5}">
                      <a16:colId xmlns:a16="http://schemas.microsoft.com/office/drawing/2014/main" val="1930251654"/>
                    </a:ext>
                  </a:extLst>
                </a:gridCol>
                <a:gridCol w="2103074">
                  <a:extLst>
                    <a:ext uri="{9D8B030D-6E8A-4147-A177-3AD203B41FA5}">
                      <a16:colId xmlns:a16="http://schemas.microsoft.com/office/drawing/2014/main" val="4052555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안 한 그룹</a:t>
                      </a:r>
                      <a:r>
                        <a:rPr lang="en-US" altLang="ko-KR" dirty="0"/>
                        <a:t>(0)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다운로드 한 그룹</a:t>
                      </a:r>
                      <a:r>
                        <a:rPr lang="en-US" altLang="ko-KR" dirty="0"/>
                        <a:t>(1)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평균 지출액 차이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52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5.67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3.14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386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 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7.39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8.79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b="1" dirty="0"/>
                        <a:t>1.40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71164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0863377-B273-9B6D-1E6C-E9B2D18D0127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 &amp; t-test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B6B4AC7-B843-B7B7-3E4A-4B83CE3C172D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Results</a:t>
            </a:r>
            <a:endParaRPr lang="ko-KR" altLang="en-US" sz="3200" b="1" dirty="0">
              <a:latin typeface="Agency FB" panose="020B0503020202020204" pitchFamily="34" charset="0"/>
              <a:cs typeface="times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D865C-22C5-AC3D-8B7C-2F062F84B530}"/>
              </a:ext>
            </a:extLst>
          </p:cNvPr>
          <p:cNvSpPr txBox="1"/>
          <p:nvPr/>
        </p:nvSpPr>
        <p:spPr>
          <a:xfrm>
            <a:off x="937094" y="1386435"/>
            <a:ext cx="7715066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ko-KR" altLang="en-US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받지 않은 그룹의 소비 행태 비교</a:t>
            </a:r>
            <a:r>
              <a:rPr lang="en-US" altLang="ko-KR" sz="18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Unmatched -&gt; Matched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4D0F1-45DE-E839-54B1-91B4CF14446E}"/>
              </a:ext>
            </a:extLst>
          </p:cNvPr>
          <p:cNvSpPr txBox="1"/>
          <p:nvPr/>
        </p:nvSpPr>
        <p:spPr>
          <a:xfrm>
            <a:off x="6140468" y="2050045"/>
            <a:ext cx="5823031" cy="2504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/>
              <a:t>쿠폰 </a:t>
            </a:r>
            <a:r>
              <a:rPr lang="ko-KR" altLang="en-US" b="1" dirty="0" err="1"/>
              <a:t>다운로더들과</a:t>
            </a:r>
            <a:r>
              <a:rPr lang="ko-KR" altLang="en-US" b="1" dirty="0"/>
              <a:t> 같은 수준으로 매치된 소비행태</a:t>
            </a:r>
            <a:endParaRPr lang="en-US" altLang="ko-KR" b="1" dirty="0"/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 err="1"/>
              <a:t>이로인해</a:t>
            </a:r>
            <a:r>
              <a:rPr lang="ko-KR" altLang="en-US" b="1" dirty="0"/>
              <a:t> 매칭 이전 비</a:t>
            </a:r>
            <a:r>
              <a:rPr lang="en-US" altLang="ko-KR" b="1" dirty="0"/>
              <a:t>-</a:t>
            </a:r>
            <a:r>
              <a:rPr lang="ko-KR" altLang="en-US" b="1" dirty="0" err="1"/>
              <a:t>다운로더들의</a:t>
            </a:r>
            <a:r>
              <a:rPr lang="ko-KR" altLang="en-US" b="1" dirty="0"/>
              <a:t> 소비행태가</a:t>
            </a:r>
            <a:br>
              <a:rPr lang="en-US" altLang="ko-KR" b="1" dirty="0"/>
            </a:br>
            <a:r>
              <a:rPr lang="ko-KR" altLang="en-US" b="1" dirty="0"/>
              <a:t>매칭 이후 조금 더 비싸거나</a:t>
            </a:r>
            <a:r>
              <a:rPr lang="en-US" altLang="ko-KR" b="1" dirty="0"/>
              <a:t>, </a:t>
            </a:r>
            <a:r>
              <a:rPr lang="ko-KR" altLang="en-US" b="1" dirty="0"/>
              <a:t>방문을 자주하게 됨</a:t>
            </a:r>
            <a:endParaRPr lang="en-US" altLang="ko-KR" b="1" dirty="0"/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ko-KR" altLang="en-US" b="1" dirty="0"/>
              <a:t>이 현상이 실제 </a:t>
            </a:r>
            <a:r>
              <a:rPr lang="en-US" altLang="ko-KR" b="1" dirty="0"/>
              <a:t>spending </a:t>
            </a:r>
            <a:r>
              <a:rPr lang="ko-KR" altLang="en-US" b="1" dirty="0"/>
              <a:t>에 반영</a:t>
            </a:r>
            <a:br>
              <a:rPr lang="en-US" altLang="ko-KR" b="1" dirty="0"/>
            </a:br>
            <a:r>
              <a:rPr lang="en-US" altLang="ko-KR" b="1" dirty="0"/>
              <a:t>(</a:t>
            </a:r>
            <a:r>
              <a:rPr lang="ko-KR" altLang="en-US" b="1" dirty="0"/>
              <a:t>쿠폰을 받지 않았어도 </a:t>
            </a:r>
            <a:r>
              <a:rPr lang="en-US" altLang="ko-KR" b="1" dirty="0"/>
              <a:t>matched </a:t>
            </a:r>
            <a:r>
              <a:rPr lang="ko-KR" altLang="en-US" b="1" dirty="0"/>
              <a:t>샘플이면 나서 올리브영 결제금액이 더 높아짐</a:t>
            </a:r>
            <a:r>
              <a:rPr lang="en-US" altLang="ko-KR" b="1" dirty="0"/>
              <a:t>-</a:t>
            </a:r>
            <a:r>
              <a:rPr lang="ko-KR" altLang="en-US" b="1" dirty="0"/>
              <a:t>왜냐면 쿠폰다운여부와 관계 없이</a:t>
            </a:r>
            <a:r>
              <a:rPr lang="en-US" altLang="ko-KR" b="1" dirty="0"/>
              <a:t>, </a:t>
            </a:r>
            <a:r>
              <a:rPr lang="ko-KR" altLang="en-US" b="1" dirty="0"/>
              <a:t>애초에 올리브영 소비에 조금 더 관심이 있고 쓰는 사람들이었으니까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85766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994B-0DBD-0FB3-60F0-4436D2013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5808F4-187A-898A-47E8-3E5977EF7C1D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EF1121-AAF3-F451-7CED-882174B90A11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5A62E2-655E-A7F4-072C-17FEEE6F5A3E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E63FA82-EA1A-1C50-A129-C8E3046161E3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AF7E8F-DF46-B8CD-1274-482317A1FB37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478C81-8256-8F38-25A1-9D92F8790E05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FF3806-7C7C-62A6-BCC6-0832781B5B36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001D09-AEBC-155C-D672-978FB75C702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679A01B-527C-BDA3-E230-A50AEA380C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205267"/>
              </p:ext>
            </p:extLst>
          </p:nvPr>
        </p:nvGraphicFramePr>
        <p:xfrm>
          <a:off x="629273" y="761929"/>
          <a:ext cx="6400308" cy="5755930"/>
        </p:xfrm>
        <a:graphic>
          <a:graphicData uri="http://schemas.openxmlformats.org/drawingml/2006/table">
            <a:tbl>
              <a:tblPr/>
              <a:tblGrid>
                <a:gridCol w="1447978">
                  <a:extLst>
                    <a:ext uri="{9D8B030D-6E8A-4147-A177-3AD203B41FA5}">
                      <a16:colId xmlns:a16="http://schemas.microsoft.com/office/drawing/2014/main" val="4084304928"/>
                    </a:ext>
                  </a:extLst>
                </a:gridCol>
                <a:gridCol w="1447978">
                  <a:extLst>
                    <a:ext uri="{9D8B030D-6E8A-4147-A177-3AD203B41FA5}">
                      <a16:colId xmlns:a16="http://schemas.microsoft.com/office/drawing/2014/main" val="1392139577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484666533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1746968621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2749488516"/>
                    </a:ext>
                  </a:extLst>
                </a:gridCol>
                <a:gridCol w="876088">
                  <a:extLst>
                    <a:ext uri="{9D8B030D-6E8A-4147-A177-3AD203B41FA5}">
                      <a16:colId xmlns:a16="http://schemas.microsoft.com/office/drawing/2014/main" val="753762409"/>
                    </a:ext>
                  </a:extLst>
                </a:gridCol>
              </a:tblGrid>
              <a:tr h="229034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(1) Selection Equation (Probit)</a:t>
                      </a:r>
                    </a:p>
                  </a:txBody>
                  <a:tcPr marL="118283" marR="118283" marT="59141" marB="59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161476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Variable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Coef.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S.E.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p-value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10361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DV: PMU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867810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CNT_18Y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941529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CNT_18Y_OLV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24.5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79771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Weekend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0.009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468208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Badair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7705746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MSG1–MSG5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0~+0.04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—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약한 </a:t>
                      </a: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940339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35775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836676"/>
                  </a:ext>
                </a:extLst>
              </a:tr>
              <a:tr h="268034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(2) Outcome Equation (Heckman outcome)</a:t>
                      </a:r>
                    </a:p>
                  </a:txBody>
                  <a:tcPr marL="118283" marR="118283" marT="59141" marB="5914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558244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Variable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Coef.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S.E.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p-value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방향성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152888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DV: SSV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35791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USE_AMT_18Y1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0.0369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17.6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554127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PERIOD_M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−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0.0118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0.0043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-2.71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989798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259298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0.016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231892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5982561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MSG4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0.905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591162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MSG5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0.422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0.045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982643"/>
                  </a:ext>
                </a:extLst>
              </a:tr>
              <a:tr h="268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λ 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IMR)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1.987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3.28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</a:p>
                  </a:txBody>
                  <a:tcPr marL="12183" marR="12183" marT="121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0145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E5D71DB9-BFA4-AE09-4C8C-BB7EA93372BA}"/>
              </a:ext>
            </a:extLst>
          </p:cNvPr>
          <p:cNvSpPr txBox="1"/>
          <p:nvPr/>
        </p:nvSpPr>
        <p:spPr>
          <a:xfrm>
            <a:off x="7266680" y="972424"/>
            <a:ext cx="48945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과거 </a:t>
            </a:r>
            <a:r>
              <a:rPr lang="en-US" altLang="ko-KR" dirty="0"/>
              <a:t>Olive Young </a:t>
            </a:r>
            <a:r>
              <a:rPr lang="ko-KR" altLang="en-US" dirty="0"/>
              <a:t>메시지 노출 빈도</a:t>
            </a:r>
            <a:br>
              <a:rPr lang="en-US" altLang="ko-KR" dirty="0"/>
            </a:br>
            <a:r>
              <a:rPr lang="en-US" altLang="ko-KR" dirty="0"/>
              <a:t>(CNT_18Y, CNT_18Y_OLV)</a:t>
            </a:r>
            <a:r>
              <a:rPr lang="ko-KR" altLang="en-US" dirty="0"/>
              <a:t>가 방문 가능성을</a:t>
            </a:r>
            <a:br>
              <a:rPr lang="en-US" altLang="ko-KR" dirty="0"/>
            </a:br>
            <a:r>
              <a:rPr lang="ko-KR" altLang="en-US" dirty="0"/>
              <a:t>유의하게 증가시킴 </a:t>
            </a:r>
            <a:r>
              <a:rPr lang="en-US" altLang="ko-KR" dirty="0"/>
              <a:t>(p&lt;0.01)</a:t>
            </a:r>
          </a:p>
          <a:p>
            <a:endParaRPr lang="en-US" altLang="ko-KR" dirty="0"/>
          </a:p>
          <a:p>
            <a:r>
              <a:rPr lang="en-US" altLang="ko-KR" dirty="0"/>
              <a:t>Weekend </a:t>
            </a:r>
            <a:r>
              <a:rPr lang="ko-KR" altLang="en-US" dirty="0"/>
              <a:t>및 </a:t>
            </a:r>
            <a:r>
              <a:rPr lang="en-US" altLang="ko-KR" dirty="0" err="1"/>
              <a:t>Badair</a:t>
            </a:r>
            <a:r>
              <a:rPr lang="en-US" altLang="ko-KR" dirty="0"/>
              <a:t> </a:t>
            </a:r>
            <a:r>
              <a:rPr lang="ko-KR" altLang="en-US" dirty="0"/>
              <a:t>역시 양의 방향으로</a:t>
            </a:r>
            <a:endParaRPr lang="en-US" altLang="ko-KR" dirty="0"/>
          </a:p>
          <a:p>
            <a:r>
              <a:rPr lang="ko-KR" altLang="en-US" dirty="0"/>
              <a:t>방문 확률을 증가시킴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7E3C32-D7D8-479A-FD95-274EB892E3F5}"/>
              </a:ext>
            </a:extLst>
          </p:cNvPr>
          <p:cNvSpPr txBox="1"/>
          <p:nvPr/>
        </p:nvSpPr>
        <p:spPr>
          <a:xfrm>
            <a:off x="7188163" y="4160734"/>
            <a:ext cx="489459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과거 지출액</a:t>
            </a:r>
            <a:r>
              <a:rPr lang="en-US" altLang="ko-KR" dirty="0"/>
              <a:t>(USE_AMT_18Y1)</a:t>
            </a:r>
            <a:r>
              <a:rPr lang="ko-KR" altLang="en-US" dirty="0"/>
              <a:t>이 가장 강력한 예측요인으로 확인됨</a:t>
            </a:r>
            <a:r>
              <a:rPr lang="en-US" altLang="ko-KR" dirty="0"/>
              <a:t>(p&lt;0.001)</a:t>
            </a:r>
          </a:p>
          <a:p>
            <a:endParaRPr lang="en-US" altLang="ko-KR" dirty="0"/>
          </a:p>
          <a:p>
            <a:r>
              <a:rPr lang="ko-KR" altLang="en-US" dirty="0"/>
              <a:t>카드 보유기간</a:t>
            </a:r>
            <a:r>
              <a:rPr lang="en-US" altLang="ko-KR" dirty="0"/>
              <a:t>(PERIOD_M)</a:t>
            </a:r>
            <a:r>
              <a:rPr lang="ko-KR" altLang="en-US" dirty="0"/>
              <a:t>은 음</a:t>
            </a:r>
            <a:r>
              <a:rPr lang="en-US" altLang="ko-KR" dirty="0"/>
              <a:t>(-)</a:t>
            </a:r>
            <a:r>
              <a:rPr lang="ko-KR" altLang="en-US" dirty="0"/>
              <a:t>의 방향으로 유의한 영향을 미침</a:t>
            </a:r>
            <a:r>
              <a:rPr lang="en-US" altLang="ko-KR" dirty="0"/>
              <a:t>(p&lt;0.01). </a:t>
            </a:r>
          </a:p>
          <a:p>
            <a:endParaRPr lang="en-US" altLang="ko-KR" dirty="0"/>
          </a:p>
          <a:p>
            <a:r>
              <a:rPr lang="ko-KR" altLang="en-US" dirty="0"/>
              <a:t>메시지 유형</a:t>
            </a:r>
            <a:r>
              <a:rPr lang="en-US" altLang="ko-KR" dirty="0"/>
              <a:t>(MSG1~MSG5)</a:t>
            </a:r>
            <a:r>
              <a:rPr lang="ko-KR" altLang="en-US" dirty="0"/>
              <a:t>은 모두 기준 메시지 대비 유의한 양의 효과를 보여줌 </a:t>
            </a:r>
            <a:r>
              <a:rPr lang="en-US" altLang="ko-KR" dirty="0"/>
              <a:t>(p&lt;0.05),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93ADC7-0E49-8619-501D-4988EF745A09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PSM &amp; Heckman</a:t>
            </a:r>
          </a:p>
        </p:txBody>
      </p:sp>
    </p:spTree>
    <p:extLst>
      <p:ext uri="{BB962C8B-B14F-4D97-AF65-F5344CB8AC3E}">
        <p14:creationId xmlns:p14="http://schemas.microsoft.com/office/powerpoint/2010/main" val="3272402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07C39-13DD-9736-FFA6-46258C0F8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5C8230CE-EE81-B644-0BDA-749549BD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794" y="1981115"/>
            <a:ext cx="5104466" cy="370691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277B0F-9767-7192-995D-5B98580144F7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0A5C325-771F-FC48-CA73-9FD28A324906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7A8ACF-FA45-00B2-A488-597FD078677D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070158-59EA-8FD9-CA26-F59CF845A6C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381A28-5975-275D-DC03-3DE4372A0C93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88C439-F4FC-1894-B1A5-ECE1901783F8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9C8982-2611-20D3-DA55-184EA6482793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9DD9C17-FA10-1041-D6A2-D17DD876C7F7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965BC-7A00-DB48-8EDB-D24941D82A8C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BE6A51-0A8E-00A0-5FA1-BE60BE410867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</a:t>
            </a: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신경망 구조의 단계별 구성</a:t>
            </a:r>
          </a:p>
        </p:txBody>
      </p:sp>
      <p:sp>
        <p:nvSpPr>
          <p:cNvPr id="6" name="Google Shape;101;p3">
            <a:extLst>
              <a:ext uri="{FF2B5EF4-FFF2-40B4-BE49-F238E27FC236}">
                <a16:creationId xmlns:a16="http://schemas.microsoft.com/office/drawing/2014/main" id="{F0A16643-ADA6-816E-DD7A-FACAFA11FA48}"/>
              </a:ext>
            </a:extLst>
          </p:cNvPr>
          <p:cNvSpPr txBox="1"/>
          <p:nvPr/>
        </p:nvSpPr>
        <p:spPr>
          <a:xfrm>
            <a:off x="588797" y="1333756"/>
            <a:ext cx="7973312" cy="1209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1) </a:t>
            </a:r>
            <a:r>
              <a:rPr lang="ko-KR" altLang="en-US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입력층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(Input X)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개인의 정보가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들어감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우리의 연구에서는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: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성별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연령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소비금액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방문횟수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,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메시지 수신여부 등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일종의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개인 특징 벡터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＂</a:t>
            </a:r>
            <a:endParaRPr lang="ko-KR" altLang="en-US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" name="Google Shape;101;p3">
            <a:extLst>
              <a:ext uri="{FF2B5EF4-FFF2-40B4-BE49-F238E27FC236}">
                <a16:creationId xmlns:a16="http://schemas.microsoft.com/office/drawing/2014/main" id="{536682A8-8CA3-02AC-BDD7-6ECA57D92F36}"/>
              </a:ext>
            </a:extLst>
          </p:cNvPr>
          <p:cNvSpPr txBox="1"/>
          <p:nvPr/>
        </p:nvSpPr>
        <p:spPr>
          <a:xfrm>
            <a:off x="588797" y="2642470"/>
            <a:ext cx="8455450" cy="1480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2) </a:t>
            </a:r>
            <a:r>
              <a:rPr lang="ko-KR" altLang="en-US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공유 </a:t>
            </a:r>
            <a:r>
              <a:rPr lang="ko-KR" altLang="en-US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표현층</a:t>
            </a: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(Shared representation layer)</a:t>
            </a: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모든 표본이 공통적으로 학습하는 층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많은 뉴런이 상호작용하며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비슷한 소비패턴을 가진 사람들은 가까운 공간으로</a:t>
            </a:r>
            <a:b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패턴을 지닌 사람들은 멀리 떨어지도록 데이터를 재배치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101;p3">
                <a:extLst>
                  <a:ext uri="{FF2B5EF4-FFF2-40B4-BE49-F238E27FC236}">
                    <a16:creationId xmlns:a16="http://schemas.microsoft.com/office/drawing/2014/main" id="{E4DCE5EE-71FD-08F8-FD6C-92616CFF4953}"/>
                  </a:ext>
                </a:extLst>
              </p:cNvPr>
              <p:cNvSpPr txBox="1"/>
              <p:nvPr/>
            </p:nvSpPr>
            <p:spPr>
              <a:xfrm>
                <a:off x="588796" y="4110478"/>
                <a:ext cx="10728959" cy="1778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R="0" lvl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ko-KR" b="1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3) 3 Heads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-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공유 표현층을 통과 후 신경망이 세개의 머리 로 분기됨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1. Propensity head /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ko-KR" altLang="en-US">
                            <a:latin typeface="Cambria Math" panose="02040503050406030204" pitchFamily="18" charset="0"/>
                          </a:rPr>
                          <m:t>=1∣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“이 사람이 쿠폰을 받을 확률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“. </a:t>
                </a:r>
                <a:b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</a:b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                                            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사실상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PSM 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의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logit </a:t>
                </a:r>
                <a:r>
                  <a:rPr lang="ko-KR" altLang="en-US" sz="1600" dirty="0" err="1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추정값과</a:t>
                </a: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같음</a:t>
                </a:r>
                <a:endParaRPr lang="en-US" altLang="ko-KR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lvl="0">
                  <a:lnSpc>
                    <a:spcPct val="110000"/>
                  </a:lnSpc>
                </a:pPr>
                <a:r>
                  <a:rPr lang="ko-KR" altLang="en-US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</a:t>
                </a: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2. Outcome head / </a:t>
                </a:r>
                <a:r>
                  <a:rPr lang="en-US" altLang="ko-KR" sz="1600" dirty="0"/>
                  <a:t>y₀: </a:t>
                </a:r>
                <a:r>
                  <a:rPr lang="ko-KR" altLang="en-US" sz="1600" dirty="0"/>
                  <a:t>“이 사람이 쿠폰을 받지 않았을 때의 소비액</a:t>
                </a:r>
                <a:r>
                  <a:rPr lang="en-US" altLang="ko-KR" sz="1600" dirty="0"/>
                  <a:t>＂</a:t>
                </a:r>
              </a:p>
              <a:p>
                <a:pPr lvl="0">
                  <a:lnSpc>
                    <a:spcPct val="110000"/>
                  </a:lnSpc>
                </a:pPr>
                <a:r>
                  <a:rPr lang="en-US" altLang="ko-KR" sz="16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 3. Outcome head / </a:t>
                </a:r>
                <a:r>
                  <a:rPr lang="en-US" altLang="ko-KR" sz="1600" dirty="0"/>
                  <a:t>y₁: “</a:t>
                </a:r>
                <a:r>
                  <a:rPr lang="ko-KR" altLang="en-US" sz="1600" dirty="0"/>
                  <a:t>이 사람이 쿠폰을 받았을 때의 예상 소비액</a:t>
                </a:r>
                <a:r>
                  <a:rPr lang="en-US" altLang="ko-KR" sz="1600" dirty="0"/>
                  <a:t>＂</a:t>
                </a:r>
                <a:endParaRPr lang="ko-KR" altLang="en-US" sz="16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mc:Choice>
        <mc:Fallback xmlns="">
          <p:sp>
            <p:nvSpPr>
              <p:cNvPr id="12" name="Google Shape;101;p3">
                <a:extLst>
                  <a:ext uri="{FF2B5EF4-FFF2-40B4-BE49-F238E27FC236}">
                    <a16:creationId xmlns:a16="http://schemas.microsoft.com/office/drawing/2014/main" id="{E4DCE5EE-71FD-08F8-FD6C-92616CFF4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796" y="4110478"/>
                <a:ext cx="10728959" cy="1778075"/>
              </a:xfrm>
              <a:prstGeom prst="rect">
                <a:avLst/>
              </a:prstGeom>
              <a:blipFill>
                <a:blip r:embed="rId4"/>
                <a:stretch>
                  <a:fillRect l="-511" t="-1712" b="-20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Google Shape;101;p3">
            <a:extLst>
              <a:ext uri="{FF2B5EF4-FFF2-40B4-BE49-F238E27FC236}">
                <a16:creationId xmlns:a16="http://schemas.microsoft.com/office/drawing/2014/main" id="{9BDB67D1-B74E-ED54-9C5C-4D7AE4458A69}"/>
              </a:ext>
            </a:extLst>
          </p:cNvPr>
          <p:cNvSpPr txBox="1"/>
          <p:nvPr/>
        </p:nvSpPr>
        <p:spPr>
          <a:xfrm>
            <a:off x="588795" y="5899049"/>
            <a:ext cx="10728959" cy="66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4) Calculation</a:t>
            </a:r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세계 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 </a:t>
            </a:r>
            <a:r>
              <a:rPr lang="ko-KR" altLang="en-US" sz="1600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받지않은</a:t>
            </a:r>
            <a:r>
              <a:rPr lang="en-US" altLang="ko-KR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r>
              <a:rPr lang="ko-KR" altLang="en-US" sz="1600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 차이를 계산</a:t>
            </a:r>
            <a:endParaRPr lang="en-US" altLang="ko-KR"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44A60F-7ECA-33AD-6330-A8B11998E68E}"/>
              </a:ext>
            </a:extLst>
          </p:cNvPr>
          <p:cNvSpPr txBox="1"/>
          <p:nvPr/>
        </p:nvSpPr>
        <p:spPr>
          <a:xfrm>
            <a:off x="10357677" y="2743630"/>
            <a:ext cx="1560583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받지 않을 때의 예상 소비액</a:t>
            </a: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161CE9-178C-14AF-88EB-2A437C77FB24}"/>
              </a:ext>
            </a:extLst>
          </p:cNvPr>
          <p:cNvSpPr txBox="1"/>
          <p:nvPr/>
        </p:nvSpPr>
        <p:spPr>
          <a:xfrm>
            <a:off x="10277116" y="4177458"/>
            <a:ext cx="1560583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받았을 때의 예상 소비액</a:t>
            </a: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48258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8A88D-D0C1-7F9D-01B0-525AC61E4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3A59668E-F08E-561D-0764-B520124A2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885" y="811102"/>
            <a:ext cx="5104466" cy="370691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9EE1274-2ADB-73B1-3418-2F1AAF2110F3}"/>
              </a:ext>
            </a:extLst>
          </p:cNvPr>
          <p:cNvSpPr txBox="1"/>
          <p:nvPr/>
        </p:nvSpPr>
        <p:spPr>
          <a:xfrm>
            <a:off x="10552205" y="1402575"/>
            <a:ext cx="1560583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받지 않을 때의 예상 소비액</a:t>
            </a: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5E1EA4-42F2-6A94-D288-564755E7F429}"/>
              </a:ext>
            </a:extLst>
          </p:cNvPr>
          <p:cNvSpPr txBox="1"/>
          <p:nvPr/>
        </p:nvSpPr>
        <p:spPr>
          <a:xfrm>
            <a:off x="10552206" y="2913148"/>
            <a:ext cx="1560583" cy="48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쿠폰을 받았을 때의 예상 소비액</a:t>
            </a:r>
            <a:endParaRPr lang="en-US" altLang="ko-KR" sz="12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A9CE4E-6C30-70F7-8713-16A6553F4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976776"/>
              </p:ext>
            </p:extLst>
          </p:nvPr>
        </p:nvGraphicFramePr>
        <p:xfrm>
          <a:off x="647841" y="4846347"/>
          <a:ext cx="10894328" cy="1828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650410">
                  <a:extLst>
                    <a:ext uri="{9D8B030D-6E8A-4147-A177-3AD203B41FA5}">
                      <a16:colId xmlns:a16="http://schemas.microsoft.com/office/drawing/2014/main" val="164392183"/>
                    </a:ext>
                  </a:extLst>
                </a:gridCol>
                <a:gridCol w="4213001">
                  <a:extLst>
                    <a:ext uri="{9D8B030D-6E8A-4147-A177-3AD203B41FA5}">
                      <a16:colId xmlns:a16="http://schemas.microsoft.com/office/drawing/2014/main" val="3180959400"/>
                    </a:ext>
                  </a:extLst>
                </a:gridCol>
                <a:gridCol w="5030917">
                  <a:extLst>
                    <a:ext uri="{9D8B030D-6E8A-4147-A177-3AD203B41FA5}">
                      <a16:colId xmlns:a16="http://schemas.microsoft.com/office/drawing/2014/main" val="37413645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구분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PSM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Dragonnet</a:t>
                      </a:r>
                      <a:endParaRPr 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414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데이터 사용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매칭된 표본만 사용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비매칭</a:t>
                      </a:r>
                      <a:r>
                        <a:rPr lang="ko-KR" altLang="en-US" dirty="0"/>
                        <a:t> 표본 제외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전체 표본 사용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7895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인과추정 방식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짝짓기 후 평균차이 비교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신경망이 두 잠재결과</a:t>
                      </a:r>
                      <a:r>
                        <a:rPr lang="en-US" altLang="ko-KR"/>
                        <a:t>(Y₁,Y₀)</a:t>
                      </a:r>
                      <a:r>
                        <a:rPr lang="ko-KR" altLang="en-US"/>
                        <a:t>를 모두 예측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1455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비응답자 처리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단순 </a:t>
                      </a:r>
                      <a:r>
                        <a:rPr lang="ko-KR" altLang="en-US" dirty="0" err="1"/>
                        <a:t>통제군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 err="1"/>
                        <a:t>실제값만</a:t>
                      </a:r>
                      <a:r>
                        <a:rPr lang="ko-KR" altLang="en-US" dirty="0"/>
                        <a:t> 존재</a:t>
                      </a:r>
                      <a:r>
                        <a:rPr lang="en-US" altLang="ko-K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“만약 </a:t>
                      </a:r>
                      <a:r>
                        <a:rPr lang="ko-KR" altLang="en-US" dirty="0" err="1"/>
                        <a:t>응답했더라면”의</a:t>
                      </a:r>
                      <a:r>
                        <a:rPr lang="ko-KR" altLang="en-US" dirty="0"/>
                        <a:t> 결과까지 예측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8982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결과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평균적 인과효과 </a:t>
                      </a:r>
                      <a:r>
                        <a:rPr lang="en-US" altLang="ko-KR" dirty="0"/>
                        <a:t>(ATT)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개인별 효과</a:t>
                      </a:r>
                      <a:r>
                        <a:rPr lang="en-US" altLang="ko-KR" dirty="0"/>
                        <a:t>(ITE) </a:t>
                      </a:r>
                      <a:r>
                        <a:rPr lang="ko-KR" altLang="en-US" dirty="0"/>
                        <a:t>및 집단효과</a:t>
                      </a:r>
                      <a:r>
                        <a:rPr lang="en-US" altLang="ko-KR" dirty="0"/>
                        <a:t>(ATE) </a:t>
                      </a:r>
                      <a:r>
                        <a:rPr lang="ko-KR" altLang="en-US" dirty="0"/>
                        <a:t>모두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73184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AF2CD6-186E-2050-6A2D-99DFED851698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9E35718-0BE2-6C2D-D645-736A63F9586D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F4233FA-CDA6-F4D9-1E5E-96843B168CA8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C24CC08-7D7F-6F38-0B56-18D5675C10FF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DEDF886-B180-BF79-0771-965F52DF3DA7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40FEBB-1D12-CC22-AA23-35E914603057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1884420-49F9-6B99-E3B4-AB8253F255D7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7A6711-E882-43FA-8DFC-BF7FA9476121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386C6-285E-C368-A800-C8796907BDE0}"/>
              </a:ext>
            </a:extLst>
          </p:cNvPr>
          <p:cNvSpPr txBox="1"/>
          <p:nvPr/>
        </p:nvSpPr>
        <p:spPr>
          <a:xfrm>
            <a:off x="242588" y="209592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endParaRPr lang="en-US" altLang="ko-KR" sz="3000" b="1" dirty="0">
              <a:solidFill>
                <a:srgbClr val="581308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9D74A1-B675-57BA-196B-E5804BD76384}"/>
              </a:ext>
            </a:extLst>
          </p:cNvPr>
          <p:cNvSpPr/>
          <p:nvPr/>
        </p:nvSpPr>
        <p:spPr>
          <a:xfrm>
            <a:off x="588797" y="381229"/>
            <a:ext cx="10382751" cy="91557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3200" b="1" dirty="0" err="1">
                <a:latin typeface="Agency FB" panose="020B0503020202020204" pitchFamily="34" charset="0"/>
                <a:cs typeface="times" panose="02020603050405020304" pitchFamily="18" charset="0"/>
              </a:rPr>
              <a:t>Dragonnet</a:t>
            </a:r>
            <a:r>
              <a:rPr lang="en-US" altLang="ko-KR" sz="3200" b="1" dirty="0">
                <a:latin typeface="Agency FB" panose="020B0503020202020204" pitchFamily="34" charset="0"/>
                <a:cs typeface="times" panose="02020603050405020304" pitchFamily="18" charset="0"/>
              </a:rPr>
              <a:t> </a:t>
            </a:r>
            <a:r>
              <a:rPr lang="ko-KR" altLang="en-US" sz="3200" b="1" dirty="0">
                <a:latin typeface="Agency FB" panose="020B0503020202020204" pitchFamily="34" charset="0"/>
                <a:cs typeface="times" panose="02020603050405020304" pitchFamily="18" charset="0"/>
              </a:rPr>
              <a:t>결과와 의의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8FD8D0-1DED-A38D-A963-1DEBFBD36256}"/>
              </a:ext>
            </a:extLst>
          </p:cNvPr>
          <p:cNvSpPr txBox="1"/>
          <p:nvPr/>
        </p:nvSpPr>
        <p:spPr>
          <a:xfrm>
            <a:off x="621798" y="1424542"/>
            <a:ext cx="611241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b="1" dirty="0"/>
              <a:t>Results</a:t>
            </a:r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/>
              <a:t>MSE (</a:t>
            </a:r>
            <a:r>
              <a:rPr lang="ko-KR" altLang="en-US" dirty="0"/>
              <a:t>결과 예측 오차</a:t>
            </a:r>
            <a:r>
              <a:rPr lang="en-US" altLang="ko-KR" dirty="0"/>
              <a:t>): 7.81</a:t>
            </a:r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dirty="0"/>
              <a:t>BCE (</a:t>
            </a:r>
            <a:r>
              <a:rPr lang="ko-KR" altLang="en-US" dirty="0"/>
              <a:t>성향 예측 오차</a:t>
            </a:r>
            <a:r>
              <a:rPr lang="en-US" altLang="ko-KR" dirty="0"/>
              <a:t>): 0.113</a:t>
            </a:r>
          </a:p>
          <a:p>
            <a:pPr marL="285750" marR="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b="1" dirty="0"/>
              <a:t>Average ITE (</a:t>
            </a:r>
            <a:r>
              <a:rPr lang="ko-KR" altLang="en-US" b="1" dirty="0"/>
              <a:t>평균 처치효과</a:t>
            </a:r>
            <a:r>
              <a:rPr lang="en-US" altLang="ko-KR" b="1" dirty="0"/>
              <a:t>): 3.19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07A04-5777-01B6-6611-C8AFCFD5C7CA}"/>
              </a:ext>
            </a:extLst>
          </p:cNvPr>
          <p:cNvSpPr txBox="1"/>
          <p:nvPr/>
        </p:nvSpPr>
        <p:spPr>
          <a:xfrm>
            <a:off x="469344" y="3239955"/>
            <a:ext cx="7733794" cy="371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/>
              <a:t>“</a:t>
            </a:r>
            <a:r>
              <a:rPr lang="ko-KR" altLang="en-US" b="1" dirty="0"/>
              <a:t>쿠폰을 받으면 올리브영 소비금액이 약 </a:t>
            </a:r>
            <a:r>
              <a:rPr lang="en-US" altLang="ko-KR" b="1" dirty="0"/>
              <a:t>3</a:t>
            </a:r>
            <a:r>
              <a:rPr lang="ko-KR" altLang="en-US" b="1" dirty="0"/>
              <a:t>천</a:t>
            </a:r>
            <a:r>
              <a:rPr lang="en-US" altLang="ko-KR" b="1" dirty="0"/>
              <a:t>2</a:t>
            </a:r>
            <a:r>
              <a:rPr lang="ko-KR" altLang="en-US" b="1" dirty="0" err="1"/>
              <a:t>백원</a:t>
            </a:r>
            <a:r>
              <a:rPr lang="ko-KR" altLang="en-US" b="1" dirty="0"/>
              <a:t> 증가할 것으로 예측됨</a:t>
            </a:r>
            <a:r>
              <a:rPr lang="en-US" altLang="ko-KR" b="1" dirty="0"/>
              <a:t>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598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703D-A43F-1CE7-5C0B-8209A8EA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145BE0FA-F64C-E6BA-3450-A14FD26243D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C0DB43C-BDDA-96B6-CA55-BBEF43FE63CC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93604A-0C6E-F46B-B0F7-1B2B5F7704A9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69B9BBE-CB37-9441-EA19-06DC84633744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9EAAE5-6E21-26A0-D1DE-35191C7B5A1D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B58B4FE-D8A0-BFF2-1F84-67F07B8F375B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C07EB1B-C232-D34E-9A85-5E8B39488FF3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1520BA-F096-52C0-8ADC-B54650A93F81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10ED6EB-2846-5162-E527-3FC4FE16C4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2"/>
          <a:stretch>
            <a:fillRect/>
          </a:stretch>
        </p:blipFill>
        <p:spPr>
          <a:xfrm>
            <a:off x="6459167" y="26903"/>
            <a:ext cx="5568068" cy="6767010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9A1E5AA-5B36-AB2B-F7D9-77F887D57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279344"/>
              </p:ext>
            </p:extLst>
          </p:nvPr>
        </p:nvGraphicFramePr>
        <p:xfrm>
          <a:off x="97039" y="946279"/>
          <a:ext cx="6023843" cy="4728717"/>
        </p:xfrm>
        <a:graphic>
          <a:graphicData uri="http://schemas.openxmlformats.org/drawingml/2006/table">
            <a:tbl>
              <a:tblPr/>
              <a:tblGrid>
                <a:gridCol w="1266662">
                  <a:extLst>
                    <a:ext uri="{9D8B030D-6E8A-4147-A177-3AD203B41FA5}">
                      <a16:colId xmlns:a16="http://schemas.microsoft.com/office/drawing/2014/main" val="748090371"/>
                    </a:ext>
                  </a:extLst>
                </a:gridCol>
                <a:gridCol w="827610">
                  <a:extLst>
                    <a:ext uri="{9D8B030D-6E8A-4147-A177-3AD203B41FA5}">
                      <a16:colId xmlns:a16="http://schemas.microsoft.com/office/drawing/2014/main" val="1690426403"/>
                    </a:ext>
                  </a:extLst>
                </a:gridCol>
                <a:gridCol w="793102">
                  <a:extLst>
                    <a:ext uri="{9D8B030D-6E8A-4147-A177-3AD203B41FA5}">
                      <a16:colId xmlns:a16="http://schemas.microsoft.com/office/drawing/2014/main" val="3487680863"/>
                    </a:ext>
                  </a:extLst>
                </a:gridCol>
                <a:gridCol w="895738">
                  <a:extLst>
                    <a:ext uri="{9D8B030D-6E8A-4147-A177-3AD203B41FA5}">
                      <a16:colId xmlns:a16="http://schemas.microsoft.com/office/drawing/2014/main" val="1016502008"/>
                    </a:ext>
                  </a:extLst>
                </a:gridCol>
                <a:gridCol w="2240731">
                  <a:extLst>
                    <a:ext uri="{9D8B030D-6E8A-4147-A177-3AD203B41FA5}">
                      <a16:colId xmlns:a16="http://schemas.microsoft.com/office/drawing/2014/main" val="54566776"/>
                    </a:ext>
                  </a:extLst>
                </a:gridCol>
              </a:tblGrid>
              <a:tr h="487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dirty="0"/>
                        <a:t>Variable</a:t>
                      </a:r>
                      <a:endParaRPr lang="ko-KR" altLang="en-US" sz="1200" b="1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dirty="0"/>
                        <a:t>Coef.</a:t>
                      </a:r>
                      <a:endParaRPr lang="en-US" sz="1200" b="1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dirty="0"/>
                        <a:t>S.E.</a:t>
                      </a:r>
                      <a:endParaRPr lang="ko-KR" altLang="en-US" sz="1200" b="1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P</a:t>
                      </a:r>
                      <a:r>
                        <a:rPr lang="en-US" altLang="ko-KR" sz="1200" b="1" dirty="0"/>
                        <a:t>-value</a:t>
                      </a:r>
                      <a:endParaRPr lang="ko-KR" altLang="en-US" sz="1200" b="1" dirty="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dirty="0"/>
                        <a:t>해석 방향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248318"/>
                  </a:ext>
                </a:extLst>
              </a:tr>
              <a:tr h="487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상수항</a:t>
                      </a:r>
                      <a:endParaRPr lang="ko-KR" alt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8.160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0.747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&lt;0.001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⬆ 기본 지출 수준 존재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0813589"/>
                  </a:ext>
                </a:extLst>
              </a:tr>
              <a:tr h="69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OFF_YN (</a:t>
                      </a:r>
                      <a:r>
                        <a:rPr lang="ko-KR" altLang="en-US" sz="1200" b="1"/>
                        <a:t>처치</a:t>
                      </a:r>
                      <a:r>
                        <a:rPr lang="en-US" altLang="ko-KR" sz="1200" b="1"/>
                        <a:t>)</a:t>
                      </a:r>
                      <a:endParaRPr lang="ko-KR" alt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/>
                        <a:t>0.659</a:t>
                      </a:r>
                      <a:endParaRPr lang="ko-KR" alt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0.387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0.089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⬆ 약한 양의 효과 </a:t>
                      </a:r>
                      <a:r>
                        <a:rPr lang="en-US" altLang="ko-KR" sz="1200"/>
                        <a:t>(10% </a:t>
                      </a:r>
                      <a:r>
                        <a:rPr lang="ko-KR" altLang="en-US" sz="1200"/>
                        <a:t>수준</a:t>
                      </a:r>
                      <a:r>
                        <a:rPr lang="en-US" altLang="ko-KR" sz="1200"/>
                        <a:t>)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893992"/>
                  </a:ext>
                </a:extLst>
              </a:tr>
              <a:tr h="487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USE_AMT_18Y1</a:t>
                      </a:r>
                      <a:endParaRPr 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/>
                        <a:t>0.0172</a:t>
                      </a:r>
                      <a:endParaRPr lang="ko-KR" alt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0.001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&lt;0.001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⬆ 매우 강한 양의 효과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64282"/>
                  </a:ext>
                </a:extLst>
              </a:tr>
              <a:tr h="6967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PERIOD_M</a:t>
                      </a:r>
                      <a:endParaRPr 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/>
                        <a:t>0.0176</a:t>
                      </a:r>
                      <a:endParaRPr lang="ko-KR" alt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0.002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&lt;0.001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⬆ 카드 보유기간↑ → 지출↑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473374"/>
                  </a:ext>
                </a:extLst>
              </a:tr>
              <a:tr h="277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MSG1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-0.287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0.569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0.615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174749"/>
                  </a:ext>
                </a:extLst>
              </a:tr>
              <a:tr h="277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MSG2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-0.141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0.577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0.807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455112"/>
                  </a:ext>
                </a:extLst>
              </a:tr>
              <a:tr h="277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MSG3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-0.210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0.579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0.717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269717"/>
                  </a:ext>
                </a:extLst>
              </a:tr>
              <a:tr h="277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MSG4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0.232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0.578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0.688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847643"/>
                  </a:ext>
                </a:extLst>
              </a:tr>
              <a:tr h="277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MSG5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-0.454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0.570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0.425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ns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06778"/>
                  </a:ext>
                </a:extLst>
              </a:tr>
              <a:tr h="4870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 b="1"/>
                        <a:t>λ (</a:t>
                      </a:r>
                      <a:r>
                        <a:rPr lang="en-US" sz="1200" b="1"/>
                        <a:t>lambda_hat)</a:t>
                      </a:r>
                      <a:endParaRPr 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/>
                        <a:t>2.149</a:t>
                      </a:r>
                      <a:endParaRPr lang="ko-KR" altLang="en-US" sz="1200"/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0.267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&lt;0.001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⬆ 선택편의 매우 강함</a:t>
                      </a:r>
                    </a:p>
                  </a:txBody>
                  <a:tcPr marL="73751" marR="73751" marT="36876" marB="368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8613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AECEC2-75D7-C4B0-3653-59C5DB24E146}"/>
              </a:ext>
            </a:extLst>
          </p:cNvPr>
          <p:cNvSpPr txBox="1"/>
          <p:nvPr/>
        </p:nvSpPr>
        <p:spPr>
          <a:xfrm>
            <a:off x="242588" y="209592"/>
            <a:ext cx="63541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 err="1">
                <a:solidFill>
                  <a:srgbClr val="581308"/>
                </a:solidFill>
                <a:latin typeface="Agency FB" panose="020B0503020202020204" pitchFamily="34" charset="0"/>
              </a:rPr>
              <a:t>Dragonnet</a:t>
            </a:r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-Heckman</a:t>
            </a:r>
          </a:p>
        </p:txBody>
      </p:sp>
    </p:spTree>
    <p:extLst>
      <p:ext uri="{BB962C8B-B14F-4D97-AF65-F5344CB8AC3E}">
        <p14:creationId xmlns:p14="http://schemas.microsoft.com/office/powerpoint/2010/main" val="241688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E8525-97AC-D4CB-E974-3FBFF166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866C55-4644-4CEA-E049-537C1A031475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CB1F758-FAB0-46C5-BF3E-0D52697CD0CD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A6B6476-F2DA-E49B-E423-2B8FAB604A00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5264F1-A867-8CBD-A253-F44AE3A1B750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065B4C-17B2-566D-8F8F-690CB59DB09E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49A9A5-CBBD-6DCB-FE6C-B63FFBCCE0F2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983B366-9941-6EB3-195E-AC57A4F8763B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D38663-5CAA-5453-4E86-F36CC1007ADD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F2A1D1-CA9E-02E3-99B2-96FF1258C957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6FCE00-5477-D229-385B-C8A44AFF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32"/>
          <a:stretch>
            <a:fillRect/>
          </a:stretch>
        </p:blipFill>
        <p:spPr>
          <a:xfrm>
            <a:off x="6459167" y="26903"/>
            <a:ext cx="5568068" cy="6767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BB0863F-E794-41BD-2746-F534E0966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58" y="761928"/>
            <a:ext cx="6225083" cy="52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43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ECBD8-0D70-84C4-89AC-2AAB164C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D51B6A3E-C02A-5A10-A8F7-131BDF1517D5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0BDBB35-D863-25C9-E622-81342952F94E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4987770-C8EC-4EE2-C33D-7875514DB2D9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4A28C8-AB5A-FE4D-664F-30597C781D52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BA2218-A671-193B-7840-91B3274FFC06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4F1C99-5EB1-BAA7-C399-0F39158A9619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790AF60-97ED-1736-D375-4178A1C09BC0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F4BA6FA-6F34-32E4-4D1A-235671DB31AA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DD0F34-37A9-474D-A310-152CA0A2310A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4180930-E223-AC02-33E3-E799B7E1C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593" y="533004"/>
            <a:ext cx="6761784" cy="52645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BD9224-0EFB-9572-BA5F-009BD405CBA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3800" r="33545"/>
          <a:stretch/>
        </p:blipFill>
        <p:spPr>
          <a:xfrm>
            <a:off x="260521" y="4531400"/>
            <a:ext cx="4699000" cy="9652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6B3E43-3F39-B487-A115-203C5CAA91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3843" r="66345"/>
          <a:stretch/>
        </p:blipFill>
        <p:spPr>
          <a:xfrm>
            <a:off x="260521" y="5676644"/>
            <a:ext cx="5041900" cy="965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C130D02-9339-38EB-1930-CCF09F3417F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3755"/>
          <a:stretch/>
        </p:blipFill>
        <p:spPr>
          <a:xfrm>
            <a:off x="242588" y="901006"/>
            <a:ext cx="4660899" cy="339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46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7F5E-0602-BEA1-7341-E5A0C06A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2E2A027B-C0F5-031D-7C08-31A8DE2711CA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6415941-873F-5B80-6712-ECC5AB59FB2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53CA786-D7D5-A6B0-2A9E-E77B6AD5A621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929E963-963F-8F96-9AB2-42DA362FDD3C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FBFF59-B664-E5E2-8F40-9872F463D913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B038FFB-3FCE-7116-524D-A3C01EAF97D3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A6D0411-E083-F042-E0FB-60E06F55AE87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226ED7-F7B5-4563-BEC8-7774929C9269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D0F353-B249-D4D3-878A-11B007B3156E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F484BA-AF9C-358B-6593-541E7D372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" y="969791"/>
            <a:ext cx="6258053" cy="41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95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1BEA-1A65-2624-4861-5BF11930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6AE6258-1B8A-6E33-D3D5-92BC68A85B4F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8ED7A7-AF27-5985-6369-2AD07E713F6A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8B48B61-2B1B-4A84-E358-45701F5C08D4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5115C5-5504-E6E5-B0ED-FB6A197D8605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C12F64-79E8-2041-4B18-440E97AE5735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C43384-B63F-74BC-36E2-BA3E7CEE1BEF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188FE65-B0BE-FD8D-2D8E-AA7E5ABD577F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0CFF54-FDE3-DC54-E64D-397580293711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6F6C83-F10E-4FB7-44A1-E51DEFF8A9DD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2641660-70A2-73C7-AEB2-4A00BB843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" y="969791"/>
            <a:ext cx="6258053" cy="41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278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FF69E-47AC-7A42-EF2D-7A9A535F8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02FB09E-2FF9-2FBB-F68E-E286641C27E6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6F18CE1-18B4-25FE-8964-48557F73F1B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14FF3C3-D1F7-CBA8-D872-C759281EDB55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F5CBE17-40D1-707F-99C4-283D2EE5F018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698735-604A-D35F-7096-E3EE63854FE9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BF805-696B-A91B-E924-DDDAEC506FB0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B2D34C2-C844-79E1-63DE-6391A76C0DA3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36787E-AC84-7A54-5250-F06C1179A956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6B36E5-8DFC-3B3F-FCC2-ED8F5404E11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D917F12-4644-268E-B0D1-026DAA23E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62" y="701044"/>
            <a:ext cx="9802249" cy="6079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01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BCF6D-FD25-710E-619D-E2F4CAF8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DD1619-C300-7801-6096-1C5E06333B8E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CDE20B-5AD3-7D1A-6EC3-BACB056E4EF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682AD90-63E9-9DD7-6AEC-38AB85AF330F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DB13F61-3BC5-8E07-4A37-AB8AF299E30D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314328-D42D-0FE8-EFD0-E21A0225306E}"/>
              </a:ext>
            </a:extLst>
          </p:cNvPr>
          <p:cNvSpPr txBox="1"/>
          <p:nvPr/>
        </p:nvSpPr>
        <p:spPr>
          <a:xfrm>
            <a:off x="242588" y="207931"/>
            <a:ext cx="10728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rgbClr val="581308"/>
                </a:solidFill>
                <a:latin typeface="Agency FB" panose="020B0503020202020204" pitchFamily="34" charset="0"/>
              </a:rPr>
              <a:t>[Appendix]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2400E7F-B1F3-D831-1C51-6AFDB1647DFA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F67ACA-E68A-DC48-4D84-67DBC1031DAA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49AFD3-C6DF-1982-7C84-95ACF30C0062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D3134F-CDED-12A2-36AD-4836A4E4CD10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FDB8C0-F239-9CD4-3EA4-8F6B89E5A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33" y="783765"/>
            <a:ext cx="10230115" cy="586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46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91A6E6-9A2C-47D5-8383-B671FFC51BEF}"/>
              </a:ext>
            </a:extLst>
          </p:cNvPr>
          <p:cNvSpPr txBox="1"/>
          <p:nvPr/>
        </p:nvSpPr>
        <p:spPr>
          <a:xfrm>
            <a:off x="4563368" y="3075057"/>
            <a:ext cx="3065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581308"/>
                </a:solidFill>
              </a:rPr>
              <a:t>감사합니다</a:t>
            </a:r>
            <a:r>
              <a:rPr lang="en-US" altLang="ko-KR" sz="4000" b="1" dirty="0">
                <a:solidFill>
                  <a:srgbClr val="581308"/>
                </a:solidFill>
              </a:rPr>
              <a:t>. </a:t>
            </a:r>
            <a:endParaRPr lang="ko-KR" altLang="en-US" sz="4000" b="1" dirty="0">
              <a:solidFill>
                <a:srgbClr val="581308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B9D67FE-CB3A-AA8D-986E-FD416411D3DB}"/>
              </a:ext>
            </a:extLst>
          </p:cNvPr>
          <p:cNvSpPr/>
          <p:nvPr/>
        </p:nvSpPr>
        <p:spPr>
          <a:xfrm rot="5400000">
            <a:off x="-952618" y="930186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96AB46-881C-76D5-D4BF-F6B19918A6D2}"/>
              </a:ext>
            </a:extLst>
          </p:cNvPr>
          <p:cNvSpPr/>
          <p:nvPr/>
        </p:nvSpPr>
        <p:spPr>
          <a:xfrm>
            <a:off x="-7027" y="-22167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9DB044F-0DF6-6A7A-DB47-43903C0259C0}"/>
              </a:ext>
            </a:extLst>
          </p:cNvPr>
          <p:cNvSpPr/>
          <p:nvPr/>
        </p:nvSpPr>
        <p:spPr>
          <a:xfrm rot="5400000">
            <a:off x="11169901" y="894972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DB5E3EC-6BE6-FB70-4075-9F85E06A5C2A}"/>
              </a:ext>
            </a:extLst>
          </p:cNvPr>
          <p:cNvSpPr/>
          <p:nvPr/>
        </p:nvSpPr>
        <p:spPr>
          <a:xfrm>
            <a:off x="10227013" y="-52308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736F12A-A4DD-66EC-D4E0-0C74E863B446}"/>
              </a:ext>
            </a:extLst>
          </p:cNvPr>
          <p:cNvSpPr/>
          <p:nvPr/>
        </p:nvSpPr>
        <p:spPr>
          <a:xfrm rot="5400000">
            <a:off x="11178785" y="583590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3F236FB-A29C-CA94-E347-53FF9E2327BF}"/>
              </a:ext>
            </a:extLst>
          </p:cNvPr>
          <p:cNvSpPr/>
          <p:nvPr/>
        </p:nvSpPr>
        <p:spPr>
          <a:xfrm>
            <a:off x="10187407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DFA149-C659-C057-2836-9118147A7CCA}"/>
              </a:ext>
            </a:extLst>
          </p:cNvPr>
          <p:cNvSpPr/>
          <p:nvPr/>
        </p:nvSpPr>
        <p:spPr>
          <a:xfrm>
            <a:off x="-9731" y="6780921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B7DAF8A-B206-4172-EFB5-303DF65936E0}"/>
              </a:ext>
            </a:extLst>
          </p:cNvPr>
          <p:cNvSpPr/>
          <p:nvPr/>
        </p:nvSpPr>
        <p:spPr>
          <a:xfrm rot="5400000">
            <a:off x="-953247" y="5848604"/>
            <a:ext cx="1964987" cy="79211"/>
          </a:xfrm>
          <a:prstGeom prst="rect">
            <a:avLst/>
          </a:prstGeom>
          <a:solidFill>
            <a:srgbClr val="581308"/>
          </a:solidFill>
          <a:ln>
            <a:solidFill>
              <a:srgbClr val="58130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CA6246E-29D7-2745-155F-8D2CB405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407" y="274466"/>
            <a:ext cx="167640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5143</TotalTime>
  <Words>1171</Words>
  <Application>Microsoft Office PowerPoint</Application>
  <PresentationFormat>와이드스크린</PresentationFormat>
  <Paragraphs>306</Paragraphs>
  <Slides>16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5" baseType="lpstr">
      <vt:lpstr>Malgun Gothic</vt:lpstr>
      <vt:lpstr>Malgun Gothic</vt:lpstr>
      <vt:lpstr>Abel</vt:lpstr>
      <vt:lpstr>Agency FB</vt:lpstr>
      <vt:lpstr>Arial</vt:lpstr>
      <vt:lpstr>Cambria Math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 Hyeongchan</dc:creator>
  <cp:lastModifiedBy>Hyeongchan Cho</cp:lastModifiedBy>
  <cp:revision>153</cp:revision>
  <dcterms:created xsi:type="dcterms:W3CDTF">2021-10-26T01:36:54Z</dcterms:created>
  <dcterms:modified xsi:type="dcterms:W3CDTF">2025-11-14T04:46:09Z</dcterms:modified>
</cp:coreProperties>
</file>