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87" r:id="rId2"/>
    <p:sldId id="449" r:id="rId3"/>
    <p:sldId id="452" r:id="rId4"/>
    <p:sldId id="450" r:id="rId5"/>
    <p:sldId id="444" r:id="rId6"/>
    <p:sldId id="451" r:id="rId7"/>
    <p:sldId id="453" r:id="rId8"/>
    <p:sldId id="464" r:id="rId9"/>
    <p:sldId id="466" r:id="rId10"/>
    <p:sldId id="467" r:id="rId11"/>
    <p:sldId id="468" r:id="rId12"/>
    <p:sldId id="469" r:id="rId13"/>
    <p:sldId id="470" r:id="rId14"/>
    <p:sldId id="471" r:id="rId15"/>
    <p:sldId id="472" r:id="rId16"/>
    <p:sldId id="473" r:id="rId17"/>
    <p:sldId id="474" r:id="rId18"/>
    <p:sldId id="475" r:id="rId19"/>
    <p:sldId id="476" r:id="rId20"/>
    <p:sldId id="477" r:id="rId21"/>
    <p:sldId id="478" r:id="rId22"/>
    <p:sldId id="460" r:id="rId23"/>
    <p:sldId id="479" r:id="rId24"/>
    <p:sldId id="456" r:id="rId25"/>
    <p:sldId id="459" r:id="rId26"/>
    <p:sldId id="458" r:id="rId27"/>
    <p:sldId id="457" r:id="rId28"/>
    <p:sldId id="365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1308"/>
    <a:srgbClr val="460F06"/>
    <a:srgbClr val="F2F2F2"/>
    <a:srgbClr val="A6A6A6"/>
    <a:srgbClr val="9120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어두운 스타일 1 - 강조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98" autoAdjust="0"/>
    <p:restoredTop sz="87275" autoAdjust="0"/>
  </p:normalViewPr>
  <p:slideViewPr>
    <p:cSldViewPr snapToGrid="0">
      <p:cViewPr>
        <p:scale>
          <a:sx n="100" d="100"/>
          <a:sy n="100" d="100"/>
        </p:scale>
        <p:origin x="1056" y="10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D1CA9F-EDC3-4106-A7E7-4058ACF986DD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6AF99E-1938-4F4F-B79A-92EB0EAA94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8163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AF99E-1938-4F4F-B79A-92EB0EAA940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0437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17442-7B64-7B70-EAB5-089040882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4E57331-FED8-E2FB-7424-21F598EF73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BAA51E-0D42-4DCA-1121-2880875A9A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25C8E5-7BB3-855C-11F5-7444040AA3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AF99E-1938-4F4F-B79A-92EB0EAA940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6512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712AF-72B6-CB97-FCF3-DD8FF9EEC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2A65B3-A9DF-1B0C-770E-9695591A0F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5B861A0-D88A-8680-F92B-7744143C4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31D65C-0272-0094-6A89-7403D188F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AF99E-1938-4F4F-B79A-92EB0EAA940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4203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5C2BF-E41D-0CE3-5003-07EEAB503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B681EA-333C-0005-8489-4BDD2B1CE2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C29A28-0814-15D7-A712-BF6E924D2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DA21C2-34DC-A13F-039B-BF50BA9EBB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AF99E-1938-4F4F-B79A-92EB0EAA940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1260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62F53-12DD-716F-AE77-835D2915B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DBCC4F-619E-1178-B5D0-97764B2455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6A858E-1507-4CDB-72E3-83C39F5733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5DEDD3-CEC9-597A-C5AD-75266B0209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AF99E-1938-4F4F-B79A-92EB0EAA940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385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D2302-C973-F9E2-18AC-A0279FEDB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4B3DB77-5472-C961-3FD9-D95EEF91B9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FB74BE-A398-7E89-A709-4E45E0D178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20E197-1D19-0F80-5EE1-78D0FB60BF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AF99E-1938-4F4F-B79A-92EB0EAA940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56510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9888A-0621-4AF2-F36D-643554457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82ADFC-9AFE-0243-C305-549FB70E36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94B821E-43C5-097C-CD31-FCF958989C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CA5C23-88FB-CBC3-5519-9ED587C55A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AF99E-1938-4F4F-B79A-92EB0EAA940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4352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44401-C29E-3A6D-812F-CF932A819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25B04C-8E94-7B0C-59EE-0F53240D63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3784FF-1E02-B6EE-BCEF-74073FA85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39BB51-521E-C361-6124-D7CBF4E358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AF99E-1938-4F4F-B79A-92EB0EAA940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27300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17930-3217-57A2-66EE-F9F628F30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E63E890-01C2-3FB9-C219-0C06254A90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D84B83B-3ECA-D41A-D043-77FF612669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94D740-D075-3491-8783-4D8FF79D47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AF99E-1938-4F4F-B79A-92EB0EAA940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51346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9CAA9-8336-227F-9A6C-B18C58C25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9E3F95-5AB8-FA9D-3F35-DC73305DE7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8FF1CB8-AFED-ACEB-2865-D996F99A6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13E680-5B82-2E37-4A5D-BCD337D8AD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AF99E-1938-4F4F-B79A-92EB0EAA940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58942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F6C25-EEFE-02C8-6F18-F9E183961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3E8787-0B31-FA72-36DD-48071C1542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0829CB4-8BB5-F8EC-5743-2F6DD974F7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8EF21F-3995-0417-0BE6-6DEA3E1B6C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AF99E-1938-4F4F-B79A-92EB0EAA940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7233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5FB2F-A1BC-4330-640A-7184F0E35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F5828D-BE86-866C-1ECD-4CE3F82C8E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FECAEDA-154B-9775-17D1-98B2541CDB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4F74AE-7F29-D4B9-ECBB-A3348233B2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AF99E-1938-4F4F-B79A-92EB0EAA940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19481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8F6ED-D511-28A5-63CB-A2440A9A1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AADEEC-CA90-F02E-E052-7011033C3E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0F0148-28C8-2754-232A-253D0FB057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8AD396-C729-C9A9-86C3-73D1205ABF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AF99E-1938-4F4F-B79A-92EB0EAA940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02861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C938E-6E76-E1EE-8C9B-1072A9B10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623726-E9B9-F447-7934-681384A8A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404429E-F62C-0921-8299-92A527BFBE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2C5185-2E04-5FAC-90C8-4772AC950F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AF99E-1938-4F4F-B79A-92EB0EAA940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95427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C5E5F-AB90-D6AD-45A4-848AF6593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7D97F35-9510-0D86-AE34-74116D5678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1A77C3-FBF4-2A18-D589-C0AFDBB2D7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7AD1C5-6D81-B61A-30C8-0EB7E56E12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AF99E-1938-4F4F-B79A-92EB0EAA940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71675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E370D-50A3-CC31-7E96-4BD0AA291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EEF6D5-7D9D-3E3F-8E9E-C453F1537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5D2A9B-300D-6456-F2B6-C162B42F4D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36CFA6-45D6-AB41-D3D4-0A45B4C397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AF99E-1938-4F4F-B79A-92EB0EAA940B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55780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778A3-7295-3E48-D5F0-4FD7D521C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FD2982B-71D8-D27C-A2CE-069CBE21F7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5C44E1-C225-DA74-E519-A409A661A8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🧩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왜 그런 신호가 필요한가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 중에는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①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메시지를 원래 받을 가능성이 매우 높아서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 ≈ 1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당연한 사람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사람은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“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메시지를 안 받았다면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?”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상상하기 어려움</a:t>
            </a:r>
            <a:b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y0-branch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만든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“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 받았을 때 영화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신뢰도가 낮음</a:t>
            </a:r>
            <a:b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g(x)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말함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얘는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y0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예측을 너무 믿지 마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!"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②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메시지를 원래 거의 안 받는 타입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(g(x) ≈ 0)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사람은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“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메시지를 받았다면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?”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상상하기 어려움</a:t>
            </a:r>
            <a:b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y1-branch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예측이 신뢰도가 낮음</a:t>
            </a:r>
            <a:b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g(x)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말함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얘는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y1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예측을 조심해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!”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b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g(x)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각 </a:t>
            </a:r>
            <a:r>
              <a:rPr lang="ko-KR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브랜치마다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신뢰도를 반대로 보내서 균형을 </a:t>
            </a:r>
            <a:r>
              <a:rPr lang="ko-KR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잡아줌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atinLnBrk="1"/>
            <a:endParaRPr lang="en-US" altLang="ko-KR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endParaRPr lang="en-US" altLang="ko-KR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🧩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 정확하게 어떻게 작용하는지 설명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✔ y1-branch (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메시지를 받았을 때 소비를 예측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👉 g(x)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높은 경우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사람은 원래 메시지를 받을 확률이 높다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!”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그러면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사람은 </a:t>
            </a:r>
            <a:r>
              <a:rPr lang="ko-KR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처치군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(t=1)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속하는 게 자연스러움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y1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예측은 쉽고 자연스러움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y1-branch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지금처럼 계속 예측해도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OK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대신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y0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예측은 신뢰도가 낮음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왜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“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원래 메시지를 받을 사람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에게</a:t>
            </a:r>
            <a:b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 받은 세계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상상하는 게 어려우니까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g(x)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y0-branch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“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더 조심해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!”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신호를 보냄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b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✔ y0-branch (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메시지를 받지 않았을 때 소비를 예측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👉 g(x)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낮은 경우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사람은 원래 메시지를 거의 안 받는다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!”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그러면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사람은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t=0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자연스러움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y0-branch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예측이 자연스러움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계속 잘하면 된다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대신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y1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예측은 난이도가 높음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latinLnBrk="1"/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y1-branch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“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조심해서 예측해라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신호 받음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D00527-E3F1-E21E-1211-94CEC2ACE9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AF99E-1938-4F4F-B79A-92EB0EAA940B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23540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8A2A3-BD50-6457-D909-A37683F0B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861AF8-C6D2-EF71-B4C2-0C81176893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72689B-1285-3818-1CB8-3DE10C3F2A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658DCE-24E0-B679-6E33-5D4842062B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AF99E-1938-4F4F-B79A-92EB0EAA940B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80925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74DD0-5BAB-1EA5-B0F2-C4B8C86E3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42B40E7-D96C-A4B8-EE27-AC4C61061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435A82-E311-1E73-23C6-A39C6C3F0E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11EDF6-F5A4-5070-4591-316D6EA4A8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AF99E-1938-4F4F-B79A-92EB0EAA940B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02544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118D5-BF5B-0659-A4D9-9E2297940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0BFB4C-7DC3-5FF9-8685-94DF839C84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A75395-0CBB-564F-B40B-395C19392C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B77A6E-95E7-D8C6-D796-0F69BC5C9D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AF99E-1938-4F4F-B79A-92EB0EAA940B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80119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FD979-7869-439B-58CC-604E2EA8D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82EAF6A-AD12-EEEB-332D-9E44441D30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40DBC9F-5D5C-551B-3CBA-8928DD43C8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9571B2-04E3-EE38-31F3-9C0A89ED0B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AF99E-1938-4F4F-B79A-92EB0EAA940B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3455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1472D-88FC-FC6A-B084-84EE667BD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C5DF46-FE50-9622-3A58-C7E947E57A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75FB7D-E2C9-7E4A-52C1-D9061D0F78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D0654F-1BBE-0BDE-E63B-1ED9C918C8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AF99E-1938-4F4F-B79A-92EB0EAA940B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71600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10C15-76CE-0171-00AB-1C142D07C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CFFED5-5C50-1B3E-0359-618A7945FC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C74BD0-B2EA-B9FF-32B6-A95BDE92A9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5FA8C3-17BD-48C6-9900-0A7300AAA1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AF99E-1938-4F4F-B79A-92EB0EAA940B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555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B96B4-9F66-2F66-72D5-E602DC439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B32AF13-6B5F-C20B-9A52-02B73E91DC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0D48E3E-D6D8-6C22-D51E-57475AEBD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D2EF48-7DAF-4BB3-DB72-8039EFC76D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AF99E-1938-4F4F-B79A-92EB0EAA940B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26544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4252F-4E6B-D2C3-7291-6104A55EE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05ECEB-187E-0B70-3B22-B62CC81B05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598471-82DD-3CE3-5B8B-00A41B87E8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52961C-4315-0833-6A25-15F989A7B8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AF99E-1938-4F4F-B79A-92EB0EAA940B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53083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2063D-ABB9-91E4-34E2-656E782A4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F4D3A0-AFE4-67E8-E8AF-F1160249B8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F07F99-AB46-A24E-9145-7A7FFDEE56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C1EAD4-4AF4-24AB-6AB6-5FDCC54DDD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AF99E-1938-4F4F-B79A-92EB0EAA940B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0541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1F571-27F4-DB8A-05CF-2FC70BB13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465E79-C356-DE5F-3122-6FFAD3937C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32F21E-97F3-4942-FF98-45BF570920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B6345A-B98F-50C0-0AF6-9DE4D5F38B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AF99E-1938-4F4F-B79A-92EB0EAA940B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639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51E0FA-8C18-4508-906C-D3E78E5B3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6498555-FEE5-419C-AD71-ED2C1BA4A9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2E2A78-0D53-494C-ADCE-F729732B0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8035-E7B8-414A-984F-14B20F169C06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ED0698-88E3-4C9C-BE45-31475C7FC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FAEE96-4702-464F-B7B2-C4F93D67C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0E485-BE83-4F21-9157-E82BE5934D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7911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CE12F4-2389-46AC-8E7F-EF2B3FAF6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B482A8-C3B5-4B0D-B5F6-83FCE145D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E8E345-6F7D-4FE6-9891-4D4E4EFD1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8035-E7B8-414A-984F-14B20F169C06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F3544A-5842-469A-BFBB-B4BC20C24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F0FF38-B923-45AF-A919-4E28D4079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0E485-BE83-4F21-9157-E82BE5934D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6494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1B51BD-BE10-4C62-ACB8-5A467EA5C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7FCE8C-D337-4160-BF25-0488596ECE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E7C66C-197A-4660-95A0-65D6280CC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8035-E7B8-414A-984F-14B20F169C06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979BC7-DD8B-4C4E-9599-4A8E56740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899D28-AB84-442F-B812-E039E4E43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0E485-BE83-4F21-9157-E82BE5934D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1219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EE7E5B-D86C-4C09-A899-D5DD0EA9F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B6A771-74FF-46E1-9185-EEB0A2EBC1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1E5540-37CC-4CB1-A80B-AA78F6B40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709D00-955E-45D6-B889-E68FABF5D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8035-E7B8-414A-984F-14B20F169C06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9881B4-2B21-448D-93F0-8C257FF8A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6F446C-9A27-4B18-86FB-D64B2ED8E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0E485-BE83-4F21-9157-E82BE5934D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2639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D0C41F-1A21-4A73-B819-D47F262A3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9E410B-B901-418A-955C-7D495D562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EC7055F-0C3F-40A0-A996-DB9DA0FAE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72ACD0F-19E9-4053-B5ED-DDA27E6BEB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60FE27B-D604-440A-B307-BBA3E706AE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E10669A-8F1F-4F44-BDEB-7A13EFCCA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8035-E7B8-414A-984F-14B20F169C06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5B95DAB-D177-4A42-B5FC-CB8FA5B4C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187BB6F-E1A6-4567-BB90-5C341F4E6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0E485-BE83-4F21-9157-E82BE5934D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77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B18DAF-E9E6-4751-8CF4-E6AB60B58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064A8B2-70CB-4CB3-B695-7FA4BFBE9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8035-E7B8-414A-984F-14B20F169C06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165B5E9-11B5-44AB-A41A-0E6B01A78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DD7D66C-D9FD-4660-A766-3DAD4E25F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0E485-BE83-4F21-9157-E82BE5934D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989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4707245-885A-40CB-9886-9098D4405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8035-E7B8-414A-984F-14B20F169C06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05E5933-7C0F-4F08-A5D7-9E0F23290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D61ADF-969A-4D37-A834-30F02BA21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0E485-BE83-4F21-9157-E82BE5934D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8627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D35A3B-7F67-44F8-A3D6-B18652789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71063A-F2E3-41F0-A63B-75ED95228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C4BA91-0D24-47B3-B1C3-01F0D2AFA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612B86-91E7-4BF0-B288-B112732A4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8035-E7B8-414A-984F-14B20F169C06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6ADF9D-3223-4BAE-A89E-A44E85CE0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720FC9-4644-46C1-9DEB-8EF7050E8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0E485-BE83-4F21-9157-E82BE5934D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3563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723CEE-20EE-457A-A79D-31F161BDF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18DA56C-26A3-46E7-920B-928A788420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0250F8-2410-477A-903C-6915AC36A4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BC88833-CE9B-44F2-8D48-81F16EBEC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8035-E7B8-414A-984F-14B20F169C06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E5CB2D-636C-4A08-BB36-19AF06114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0CE191-83AB-4A7F-8D21-85491597D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0E485-BE83-4F21-9157-E82BE5934D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8173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E43F22-FFAA-4AD9-AEDD-64612195B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9BAC854-26A3-44D6-BF83-8478DB156E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7E64AA-3AD0-4D28-A464-132C302E9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8035-E7B8-414A-984F-14B20F169C06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58EEC4-0C5D-4DC8-85C4-76468636C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D0EFCA-4CE0-4A0E-845E-950FCB0F0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0E485-BE83-4F21-9157-E82BE5934D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020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8B38C5A-9D7C-4FA3-A938-A09DD5FFB0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AF5BDB-AAAD-4982-B35B-9601F6E75D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82847C-4BE1-4D7A-B385-28FF2CF3D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8035-E7B8-414A-984F-14B20F169C06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904ACF-F4DC-4177-9868-ED93BA81F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474D96-9C90-4643-85C0-E28EA4624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0E485-BE83-4F21-9157-E82BE5934D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9479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711FE60-FD3A-4505-914E-4F96149F4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7F40F2-70EE-42F1-A63A-958E3B6B6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B9B1B8-3392-49D6-9DD4-845BAAEAAF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B38035-E7B8-414A-984F-14B20F169C06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FFA029-2C3C-4D53-B672-EAE86336E8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1C64F9-65C0-4491-9ABF-D3AA0837B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60E485-BE83-4F21-9157-E82BE5934D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8026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4FD097-E64C-4217-896C-863256493DA6}"/>
              </a:ext>
            </a:extLst>
          </p:cNvPr>
          <p:cNvSpPr txBox="1"/>
          <p:nvPr/>
        </p:nvSpPr>
        <p:spPr>
          <a:xfrm>
            <a:off x="-10359" y="2469133"/>
            <a:ext cx="121716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ko-KR" sz="3200" b="1" dirty="0" err="1">
                <a:solidFill>
                  <a:srgbClr val="581308"/>
                </a:solidFill>
                <a:latin typeface="Malgun Gothic"/>
                <a:ea typeface="Malgun Gothic"/>
                <a:cs typeface="Malgun Gothic"/>
                <a:sym typeface="Malgun Gothic"/>
              </a:rPr>
              <a:t>Shinhancard</a:t>
            </a:r>
            <a:r>
              <a:rPr lang="en-US" altLang="ko-KR" sz="3200" b="1" dirty="0">
                <a:solidFill>
                  <a:srgbClr val="58130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3200" b="1" dirty="0" err="1">
                <a:solidFill>
                  <a:srgbClr val="581308"/>
                </a:solidFill>
                <a:latin typeface="Malgun Gothic"/>
                <a:ea typeface="Malgun Gothic"/>
                <a:cs typeface="Malgun Gothic"/>
                <a:sym typeface="Malgun Gothic"/>
              </a:rPr>
              <a:t>Oliveyoung</a:t>
            </a:r>
            <a:r>
              <a:rPr lang="en-US" altLang="ko-KR" sz="3200" b="1" dirty="0">
                <a:solidFill>
                  <a:srgbClr val="581308"/>
                </a:solidFill>
                <a:latin typeface="Malgun Gothic"/>
                <a:ea typeface="Malgun Gothic"/>
                <a:cs typeface="Malgun Gothic"/>
                <a:sym typeface="Malgun Gothic"/>
              </a:rPr>
              <a:t> Project</a:t>
            </a:r>
            <a:endParaRPr lang="ko-KR" altLang="en-US" sz="2400" dirty="0">
              <a:solidFill>
                <a:srgbClr val="58130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" name="Google Shape;85;p1">
            <a:extLst>
              <a:ext uri="{FF2B5EF4-FFF2-40B4-BE49-F238E27FC236}">
                <a16:creationId xmlns:a16="http://schemas.microsoft.com/office/drawing/2014/main" id="{D642E767-7043-47CD-A86C-668C993B7681}"/>
              </a:ext>
            </a:extLst>
          </p:cNvPr>
          <p:cNvSpPr txBox="1"/>
          <p:nvPr/>
        </p:nvSpPr>
        <p:spPr>
          <a:xfrm>
            <a:off x="6757316" y="5226774"/>
            <a:ext cx="445219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b="1" dirty="0">
                <a:latin typeface="Malgun Gothic"/>
                <a:ea typeface="Malgun Gothic"/>
                <a:cs typeface="Malgun Gothic"/>
                <a:sym typeface="Malgun Gothic"/>
              </a:rPr>
              <a:t>조형찬 박사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b="1" dirty="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b="1" dirty="0"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b="1" dirty="0">
                <a:latin typeface="Malgun Gothic"/>
                <a:ea typeface="Malgun Gothic"/>
                <a:cs typeface="Malgun Gothic"/>
                <a:sym typeface="Malgun Gothic"/>
              </a:rPr>
              <a:t>yugnalgum@khu.ac.kr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D4EC064-41F6-51D2-34EA-1B0BB07E256D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A836CB1-9F1D-D170-3803-562149D2D09F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AAED187-4D2F-90B4-E542-BEB15142F024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36B4769-6F42-F8E8-C49F-49D3B2387102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9EBBB7D-2187-6ED6-2190-4F5974485FBA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6253594-83E1-7564-DBCF-C67D9CBDBD47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EC2C46B-22CB-824F-CB5D-C2A998A3937E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E66F070-52DA-7DFC-0B1C-F6427BB01D9E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5A20A1-CF89-0941-CB67-AAABDB62F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7407" y="274466"/>
            <a:ext cx="1676400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489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15E40-AE44-D336-3CD0-47B6545A2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70B2CC9F-E8FB-61F8-A224-3441E6E0408F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4E12DCC-557E-8843-9A93-E02542D66F78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D588D85-499D-298B-847A-D03BC3C8C893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A368936-0928-1A04-051B-C7CC6D3486F6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2C6408F-4498-EFAA-79CB-CA41957D3790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B1B0CBE-268D-74C9-5FD7-B6FFF25AEFB6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CDAC907-0558-0E8C-B481-07A3CDC827AA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8DD1920-47B3-E37B-C826-D78702708BD0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334DD14-6898-26EE-B5EA-57F7D48CD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6469" y="1119239"/>
            <a:ext cx="5009704" cy="3759739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98D1E485-0B5D-341C-C307-85E9395E5D7D}"/>
              </a:ext>
            </a:extLst>
          </p:cNvPr>
          <p:cNvSpPr/>
          <p:nvPr/>
        </p:nvSpPr>
        <p:spPr>
          <a:xfrm>
            <a:off x="588797" y="381229"/>
            <a:ext cx="10382751" cy="91557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3200" b="1" dirty="0">
                <a:latin typeface="Agency FB" panose="020B0503020202020204" pitchFamily="34" charset="0"/>
                <a:cs typeface="times" panose="02020603050405020304" pitchFamily="18" charset="0"/>
              </a:rPr>
              <a:t>쿠폰의 효과 추정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A13038-686E-2617-350D-97E248F9D0B6}"/>
              </a:ext>
            </a:extLst>
          </p:cNvPr>
          <p:cNvSpPr txBox="1"/>
          <p:nvPr/>
        </p:nvSpPr>
        <p:spPr>
          <a:xfrm>
            <a:off x="242588" y="207931"/>
            <a:ext cx="10728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rgbClr val="581308"/>
                </a:solidFill>
                <a:latin typeface="Agency FB" panose="020B0503020202020204" pitchFamily="34" charset="0"/>
              </a:rPr>
              <a:t>PSM</a:t>
            </a:r>
          </a:p>
        </p:txBody>
      </p:sp>
      <p:sp>
        <p:nvSpPr>
          <p:cNvPr id="13" name="Google Shape;101;p3">
            <a:extLst>
              <a:ext uri="{FF2B5EF4-FFF2-40B4-BE49-F238E27FC236}">
                <a16:creationId xmlns:a16="http://schemas.microsoft.com/office/drawing/2014/main" id="{08B93ED3-9FA7-4459-F7C2-356F2F40E4F1}"/>
              </a:ext>
            </a:extLst>
          </p:cNvPr>
          <p:cNvSpPr txBox="1"/>
          <p:nvPr/>
        </p:nvSpPr>
        <p:spPr>
          <a:xfrm>
            <a:off x="547961" y="1358668"/>
            <a:ext cx="11437125" cy="391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쿠폰을 다운받은 고객이 실제로 소비를 늘렸는가</a:t>
            </a: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?</a:t>
            </a:r>
            <a:endParaRPr lang="ko-KR" altLang="en-US" b="1" dirty="0"/>
          </a:p>
          <a:p>
            <a:pPr lvl="0">
              <a:lnSpc>
                <a:spcPct val="110000"/>
              </a:lnSpc>
            </a:pP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lvl="0" indent="-285750">
              <a:lnSpc>
                <a:spcPct val="110000"/>
              </a:lnSpc>
              <a:buFontTx/>
              <a:buChar char="-"/>
            </a:pP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효과의 공정한 추정을 위한 조건</a:t>
            </a:r>
            <a:endParaRPr lang="en-US" altLang="ko-KR" sz="16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>
              <a:lnSpc>
                <a:spcPct val="110000"/>
              </a:lnSpc>
            </a:pPr>
            <a:b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</a:t>
            </a:r>
            <a:r>
              <a:rPr lang="en-US" altLang="ko-KR" sz="1600" i="1" dirty="0">
                <a:latin typeface="Abel" panose="02000506030000020004" pitchFamily="2" charset="0"/>
              </a:rPr>
              <a:t>· </a:t>
            </a:r>
            <a:r>
              <a:rPr lang="ko-KR" altLang="en-US" sz="1600" i="1" dirty="0"/>
              <a:t>쿠폰을 다운받은 집단</a:t>
            </a:r>
            <a:r>
              <a:rPr lang="en-US" altLang="ko-KR" sz="1600" i="1" dirty="0"/>
              <a:t>(Treatment)</a:t>
            </a:r>
            <a:r>
              <a:rPr lang="ko-KR" altLang="en-US" sz="1600" i="1" dirty="0"/>
              <a:t>과 그렇지 않은 집단</a:t>
            </a:r>
            <a:r>
              <a:rPr lang="en-US" altLang="ko-KR" sz="1600" i="1" dirty="0"/>
              <a:t>(Control)</a:t>
            </a:r>
            <a:br>
              <a:rPr lang="en-US" altLang="ko-KR" sz="1600" i="1" dirty="0"/>
            </a:br>
            <a:r>
              <a:rPr lang="en-US" altLang="ko-KR" sz="1600" i="1" dirty="0"/>
              <a:t>    </a:t>
            </a:r>
            <a:r>
              <a:rPr lang="ko-KR" altLang="en-US" sz="1600" i="1" dirty="0"/>
              <a:t>이 두 집단의 성향이 어느정도 같아야 한다</a:t>
            </a:r>
            <a:r>
              <a:rPr lang="en-US" altLang="ko-KR" sz="1600" i="1" dirty="0"/>
              <a:t>.</a:t>
            </a:r>
            <a:endParaRPr lang="ko-KR" altLang="en-US" sz="1600" i="1" dirty="0"/>
          </a:p>
          <a:p>
            <a:pPr lvl="0">
              <a:lnSpc>
                <a:spcPct val="110000"/>
              </a:lnSpc>
            </a:pPr>
            <a:endParaRPr lang="en-US" altLang="ko-KR" sz="1600" i="1" dirty="0"/>
          </a:p>
          <a:p>
            <a:pPr lvl="0">
              <a:lnSpc>
                <a:spcPct val="110000"/>
              </a:lnSpc>
            </a:pPr>
            <a:r>
              <a:rPr lang="ko-KR" altLang="en-US" sz="1600" i="1" dirty="0"/>
              <a:t>   </a:t>
            </a:r>
            <a:r>
              <a:rPr lang="en-US" altLang="ko-KR" sz="1600" i="1" dirty="0">
                <a:latin typeface="Abel" panose="02000506030000020004" pitchFamily="2" charset="0"/>
              </a:rPr>
              <a:t>·</a:t>
            </a:r>
            <a:r>
              <a:rPr lang="ko-KR" altLang="en-US" sz="1600" i="1" dirty="0">
                <a:latin typeface="Abel" panose="02000506030000020004" pitchFamily="2" charset="0"/>
              </a:rPr>
              <a:t>성향이 같은 집단으로 샘플링이 되지 않은 상태에서</a:t>
            </a:r>
            <a:br>
              <a:rPr lang="en-US" altLang="ko-KR" sz="1600" i="1" dirty="0">
                <a:latin typeface="Abel" panose="02000506030000020004" pitchFamily="2" charset="0"/>
              </a:rPr>
            </a:br>
            <a:r>
              <a:rPr lang="en-US" altLang="ko-KR" sz="1600" i="1" dirty="0">
                <a:latin typeface="Abel" panose="02000506030000020004" pitchFamily="2" charset="0"/>
              </a:rPr>
              <a:t>      </a:t>
            </a:r>
            <a:r>
              <a:rPr lang="ko-KR" altLang="en-US" sz="1600" i="1" dirty="0">
                <a:latin typeface="Abel" panose="02000506030000020004" pitchFamily="2" charset="0"/>
              </a:rPr>
              <a:t>단순 평균 비교만으로는</a:t>
            </a:r>
            <a:br>
              <a:rPr lang="en-US" altLang="ko-KR" sz="1600" i="1" dirty="0">
                <a:latin typeface="Abel" panose="02000506030000020004" pitchFamily="2" charset="0"/>
              </a:rPr>
            </a:br>
            <a:r>
              <a:rPr lang="en-US" altLang="ko-KR" sz="1600" i="1" dirty="0">
                <a:latin typeface="Abel" panose="02000506030000020004" pitchFamily="2" charset="0"/>
              </a:rPr>
              <a:t>      </a:t>
            </a:r>
            <a:r>
              <a:rPr lang="ko-KR" altLang="en-US" sz="1600" i="1" dirty="0">
                <a:latin typeface="Abel" panose="02000506030000020004" pitchFamily="2" charset="0"/>
              </a:rPr>
              <a:t>메시지의  </a:t>
            </a:r>
            <a:r>
              <a:rPr lang="en-US" altLang="ko-KR" sz="1600" i="1" dirty="0">
                <a:latin typeface="Abel" panose="02000506030000020004" pitchFamily="2" charset="0"/>
              </a:rPr>
              <a:t>‘</a:t>
            </a:r>
            <a:r>
              <a:rPr lang="ko-KR" altLang="en-US" sz="1600" i="1" dirty="0">
                <a:latin typeface="Abel" panose="02000506030000020004" pitchFamily="2" charset="0"/>
              </a:rPr>
              <a:t>순수한 효과</a:t>
            </a:r>
            <a:r>
              <a:rPr lang="en-US" altLang="ko-KR" sz="1600" i="1" dirty="0">
                <a:latin typeface="Abel" panose="02000506030000020004" pitchFamily="2" charset="0"/>
              </a:rPr>
              <a:t>’ </a:t>
            </a:r>
            <a:r>
              <a:rPr lang="ko-KR" altLang="en-US" sz="1600" i="1" dirty="0">
                <a:latin typeface="Abel" panose="02000506030000020004" pitchFamily="2" charset="0"/>
              </a:rPr>
              <a:t>를 구별하기 어렵다</a:t>
            </a:r>
            <a:r>
              <a:rPr lang="en-US" altLang="ko-KR" sz="1600" i="1" dirty="0">
                <a:latin typeface="Abel" panose="02000506030000020004" pitchFamily="2" charset="0"/>
              </a:rPr>
              <a:t>.</a:t>
            </a:r>
            <a:endParaRPr lang="en-US" altLang="ko-KR" sz="1600" i="1" dirty="0"/>
          </a:p>
          <a:p>
            <a:pPr lvl="0">
              <a:lnSpc>
                <a:spcPct val="110000"/>
              </a:lnSpc>
            </a:pP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>
              <a:lnSpc>
                <a:spcPct val="110000"/>
              </a:lnSpc>
            </a:pP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lvl="0" indent="-285750">
              <a:lnSpc>
                <a:spcPct val="110000"/>
              </a:lnSpc>
              <a:buFontTx/>
              <a:buChar char="-"/>
            </a:pP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두 집단의 </a:t>
            </a: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Selection Bias </a:t>
            </a: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완화시키기 위한 </a:t>
            </a: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PSM </a:t>
            </a: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수행</a:t>
            </a:r>
            <a:b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이후 </a:t>
            </a: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t-test (</a:t>
            </a: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기존연구에서는 </a:t>
            </a: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Heckman </a:t>
            </a: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활용</a:t>
            </a: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57738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4C6BE-FB70-819E-A4F0-FBC210E67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99C68A02-DC08-26A2-0128-CEDD348BC0E8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837D8FF-88A0-9A4F-D825-209C5FAC3C4E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B1D9513-274C-B903-D9D2-5D8900549D87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669B625-2D94-3B1F-FF93-8E9495375E0C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EBEBA85-8F0F-CED5-0060-E55159FB46E4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43752A9-0464-D50D-6951-835EAA788BE4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B197316-6FF6-5442-5A7A-8952C227F56E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ED2EF0C-E86F-D2B3-1B20-7A5112CCFA33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353FD01E-ED7A-E528-D457-BC65DCD96E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064552"/>
              </p:ext>
            </p:extLst>
          </p:nvPr>
        </p:nvGraphicFramePr>
        <p:xfrm>
          <a:off x="710975" y="1332562"/>
          <a:ext cx="8747161" cy="53264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8500">
                  <a:extLst>
                    <a:ext uri="{9D8B030D-6E8A-4147-A177-3AD203B41FA5}">
                      <a16:colId xmlns:a16="http://schemas.microsoft.com/office/drawing/2014/main" val="3655845054"/>
                    </a:ext>
                  </a:extLst>
                </a:gridCol>
                <a:gridCol w="6688661">
                  <a:extLst>
                    <a:ext uri="{9D8B030D-6E8A-4147-A177-3AD203B41FA5}">
                      <a16:colId xmlns:a16="http://schemas.microsoft.com/office/drawing/2014/main" val="2955272886"/>
                    </a:ext>
                  </a:extLst>
                </a:gridCol>
              </a:tblGrid>
              <a:tr h="2762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 dirty="0">
                          <a:effectLst/>
                        </a:rPr>
                        <a:t>SEX_GB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 dirty="0">
                          <a:effectLst/>
                        </a:rPr>
                        <a:t>Sex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extLst>
                  <a:ext uri="{0D108BD9-81ED-4DB2-BD59-A6C34878D82A}">
                    <a16:rowId xmlns:a16="http://schemas.microsoft.com/office/drawing/2014/main" val="2904824837"/>
                  </a:ext>
                </a:extLst>
              </a:tr>
              <a:tr h="2762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 dirty="0">
                          <a:effectLst/>
                        </a:rPr>
                        <a:t>AGE_GB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 dirty="0">
                          <a:effectLst/>
                        </a:rPr>
                        <a:t>Age group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extLst>
                  <a:ext uri="{0D108BD9-81ED-4DB2-BD59-A6C34878D82A}">
                    <a16:rowId xmlns:a16="http://schemas.microsoft.com/office/drawing/2014/main" val="1610455598"/>
                  </a:ext>
                </a:extLst>
              </a:tr>
              <a:tr h="2762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>
                          <a:effectLst/>
                        </a:rPr>
                        <a:t>NI_DE_YM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 dirty="0">
                          <a:effectLst/>
                        </a:rPr>
                        <a:t>Month when my credit card was issued 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extLst>
                  <a:ext uri="{0D108BD9-81ED-4DB2-BD59-A6C34878D82A}">
                    <a16:rowId xmlns:a16="http://schemas.microsoft.com/office/drawing/2014/main" val="484958252"/>
                  </a:ext>
                </a:extLst>
              </a:tr>
              <a:tr h="2762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>
                          <a:effectLst/>
                        </a:rPr>
                        <a:t>PERIOD_M</a:t>
                      </a:r>
                      <a:endParaRPr lang="en-US" sz="17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 dirty="0">
                          <a:effectLst/>
                        </a:rPr>
                        <a:t>Time since my credit card issued (month)</a:t>
                      </a:r>
                      <a:endParaRPr lang="en-US" sz="17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extLst>
                  <a:ext uri="{0D108BD9-81ED-4DB2-BD59-A6C34878D82A}">
                    <a16:rowId xmlns:a16="http://schemas.microsoft.com/office/drawing/2014/main" val="1304137867"/>
                  </a:ext>
                </a:extLst>
              </a:tr>
              <a:tr h="2762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AVG_36_M</a:t>
                      </a:r>
                      <a:endParaRPr lang="en-US" sz="17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 dirty="0">
                          <a:effectLst/>
                        </a:rPr>
                        <a:t>Amount spent by credit card in the last 36 months (month)</a:t>
                      </a:r>
                      <a:endParaRPr lang="en-US" sz="17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extLst>
                  <a:ext uri="{0D108BD9-81ED-4DB2-BD59-A6C34878D82A}">
                    <a16:rowId xmlns:a16="http://schemas.microsoft.com/office/drawing/2014/main" val="403101673"/>
                  </a:ext>
                </a:extLst>
              </a:tr>
              <a:tr h="2762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AVG_12_M</a:t>
                      </a:r>
                      <a:endParaRPr lang="en-US" sz="17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 dirty="0">
                          <a:effectLst/>
                        </a:rPr>
                        <a:t>Amount spent by credit card in 2018 (month)</a:t>
                      </a:r>
                      <a:endParaRPr lang="en-US" sz="17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extLst>
                  <a:ext uri="{0D108BD9-81ED-4DB2-BD59-A6C34878D82A}">
                    <a16:rowId xmlns:a16="http://schemas.microsoft.com/office/drawing/2014/main" val="958049826"/>
                  </a:ext>
                </a:extLst>
              </a:tr>
              <a:tr h="2762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USE_CNT_18Y</a:t>
                      </a:r>
                      <a:endParaRPr lang="en-US" sz="17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 dirty="0">
                          <a:effectLst/>
                        </a:rPr>
                        <a:t>Number of (Olive Young) store visits in 2018</a:t>
                      </a:r>
                      <a:endParaRPr lang="en-US" sz="17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extLst>
                  <a:ext uri="{0D108BD9-81ED-4DB2-BD59-A6C34878D82A}">
                    <a16:rowId xmlns:a16="http://schemas.microsoft.com/office/drawing/2014/main" val="1570270860"/>
                  </a:ext>
                </a:extLst>
              </a:tr>
              <a:tr h="2762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USE_AMT_18Y1</a:t>
                      </a:r>
                      <a:endParaRPr lang="en-US" sz="17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 dirty="0">
                          <a:effectLst/>
                        </a:rPr>
                        <a:t>Amount spent in (Olive Young) stores in 2018 </a:t>
                      </a:r>
                      <a:endParaRPr lang="en-US" sz="17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extLst>
                  <a:ext uri="{0D108BD9-81ED-4DB2-BD59-A6C34878D82A}">
                    <a16:rowId xmlns:a16="http://schemas.microsoft.com/office/drawing/2014/main" val="3982153323"/>
                  </a:ext>
                </a:extLst>
              </a:tr>
              <a:tr h="2762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CNT_18Y</a:t>
                      </a:r>
                      <a:endParaRPr lang="en-US" sz="17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 dirty="0">
                          <a:effectLst/>
                        </a:rPr>
                        <a:t>Number of times to respond to messages in 2018</a:t>
                      </a:r>
                      <a:endParaRPr lang="en-US" sz="17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extLst>
                  <a:ext uri="{0D108BD9-81ED-4DB2-BD59-A6C34878D82A}">
                    <a16:rowId xmlns:a16="http://schemas.microsoft.com/office/drawing/2014/main" val="3773353194"/>
                  </a:ext>
                </a:extLst>
              </a:tr>
              <a:tr h="3544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CNT_18Y_OLV</a:t>
                      </a:r>
                      <a:endParaRPr lang="en-US" sz="17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 dirty="0">
                          <a:effectLst/>
                        </a:rPr>
                        <a:t>Number of times to respond to Olive Young messages in 2018</a:t>
                      </a:r>
                      <a:endParaRPr lang="en-US" sz="17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extLst>
                  <a:ext uri="{0D108BD9-81ED-4DB2-BD59-A6C34878D82A}">
                    <a16:rowId xmlns:a16="http://schemas.microsoft.com/office/drawing/2014/main" val="663260856"/>
                  </a:ext>
                </a:extLst>
              </a:tr>
              <a:tr h="2762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>
                          <a:effectLst/>
                        </a:rPr>
                        <a:t>MSG_GB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1700" u="none" strike="noStrike" dirty="0">
                          <a:effectLst/>
                        </a:rPr>
                        <a:t>Message (0 vs. 1 vs. 2 vs. 3 vs. 4 vs. 5)</a:t>
                      </a:r>
                      <a:endParaRPr lang="da-DK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extLst>
                  <a:ext uri="{0D108BD9-81ED-4DB2-BD59-A6C34878D82A}">
                    <a16:rowId xmlns:a16="http://schemas.microsoft.com/office/drawing/2014/main" val="1047238149"/>
                  </a:ext>
                </a:extLst>
              </a:tr>
              <a:tr h="2762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>
                          <a:effectLst/>
                        </a:rPr>
                        <a:t>APP_PS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 dirty="0">
                          <a:effectLst/>
                        </a:rPr>
                        <a:t>Channel (only through the application)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extLst>
                  <a:ext uri="{0D108BD9-81ED-4DB2-BD59-A6C34878D82A}">
                    <a16:rowId xmlns:a16="http://schemas.microsoft.com/office/drawing/2014/main" val="3498213972"/>
                  </a:ext>
                </a:extLst>
              </a:tr>
              <a:tr h="2762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>
                          <a:effectLst/>
                        </a:rPr>
                        <a:t>PMSG_SD_D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 dirty="0">
                          <a:effectLst/>
                        </a:rPr>
                        <a:t>Timing (Jan 11 vs. Jan 15 vs. Jan 17) 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extLst>
                  <a:ext uri="{0D108BD9-81ED-4DB2-BD59-A6C34878D82A}">
                    <a16:rowId xmlns:a16="http://schemas.microsoft.com/office/drawing/2014/main" val="2760398046"/>
                  </a:ext>
                </a:extLst>
              </a:tr>
              <a:tr h="2762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>
                          <a:effectLst/>
                        </a:rPr>
                        <a:t>WEEK_GB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 dirty="0">
                          <a:effectLst/>
                        </a:rPr>
                        <a:t>Week (Weekday vs. Weekend)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extLst>
                  <a:ext uri="{0D108BD9-81ED-4DB2-BD59-A6C34878D82A}">
                    <a16:rowId xmlns:a16="http://schemas.microsoft.com/office/drawing/2014/main" val="1568674395"/>
                  </a:ext>
                </a:extLst>
              </a:tr>
              <a:tr h="2762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OFF_YN</a:t>
                      </a:r>
                      <a:endParaRPr lang="en-US" sz="1700" b="1" i="0" u="none" strike="noStrike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 dirty="0">
                          <a:effectLst/>
                        </a:rPr>
                        <a:t>Respond to message (0 vs. 1)</a:t>
                      </a:r>
                      <a:endParaRPr lang="en-US" sz="1700" b="0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extLst>
                  <a:ext uri="{0D108BD9-81ED-4DB2-BD59-A6C34878D82A}">
                    <a16:rowId xmlns:a16="http://schemas.microsoft.com/office/drawing/2014/main" val="1441527116"/>
                  </a:ext>
                </a:extLst>
              </a:tr>
              <a:tr h="2762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>
                          <a:effectLst/>
                        </a:rPr>
                        <a:t>MSG_OFF_GAP</a:t>
                      </a:r>
                      <a:endParaRPr lang="en-US" sz="1700" b="0" i="0" u="none" strike="noStrike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 dirty="0">
                          <a:effectLst/>
                        </a:rPr>
                        <a:t>time to respond to message (second)</a:t>
                      </a:r>
                      <a:endParaRPr lang="en-US" sz="1700" b="0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extLst>
                  <a:ext uri="{0D108BD9-81ED-4DB2-BD59-A6C34878D82A}">
                    <a16:rowId xmlns:a16="http://schemas.microsoft.com/office/drawing/2014/main" val="3135412161"/>
                  </a:ext>
                </a:extLst>
              </a:tr>
              <a:tr h="2762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>
                          <a:effectLst/>
                        </a:rPr>
                        <a:t>OLI_USE_CNT</a:t>
                      </a:r>
                      <a:endParaRPr lang="en-US" sz="1700" b="0" i="0" u="none" strike="noStrike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 dirty="0">
                          <a:effectLst/>
                        </a:rPr>
                        <a:t>Number of (Olive Young) store visits </a:t>
                      </a:r>
                      <a:endParaRPr lang="en-US" sz="1700" b="0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extLst>
                  <a:ext uri="{0D108BD9-81ED-4DB2-BD59-A6C34878D82A}">
                    <a16:rowId xmlns:a16="http://schemas.microsoft.com/office/drawing/2014/main" val="432199095"/>
                  </a:ext>
                </a:extLst>
              </a:tr>
              <a:tr h="2762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>
                          <a:effectLst/>
                        </a:rPr>
                        <a:t>GAP_MIN1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 dirty="0">
                          <a:effectLst/>
                        </a:rPr>
                        <a:t>Time to visit (Olive Young) store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extLst>
                  <a:ext uri="{0D108BD9-81ED-4DB2-BD59-A6C34878D82A}">
                    <a16:rowId xmlns:a16="http://schemas.microsoft.com/office/drawing/2014/main" val="1864074414"/>
                  </a:ext>
                </a:extLst>
              </a:tr>
              <a:tr h="2762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1" u="none" strike="noStrike" dirty="0">
                          <a:effectLst/>
                          <a:highlight>
                            <a:srgbClr val="FFFF00"/>
                          </a:highlight>
                        </a:rPr>
                        <a:t>GAP_MIN1_USE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 dirty="0">
                          <a:effectLst/>
                        </a:rPr>
                        <a:t>Amount spent in (Olive Young) stores 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extLst>
                  <a:ext uri="{0D108BD9-81ED-4DB2-BD59-A6C34878D82A}">
                    <a16:rowId xmlns:a16="http://schemas.microsoft.com/office/drawing/2014/main" val="270671635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3595923-223A-8CFB-1CC2-AD98628D9DD6}"/>
              </a:ext>
            </a:extLst>
          </p:cNvPr>
          <p:cNvSpPr txBox="1"/>
          <p:nvPr/>
        </p:nvSpPr>
        <p:spPr>
          <a:xfrm>
            <a:off x="242588" y="207931"/>
            <a:ext cx="10728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rgbClr val="581308"/>
                </a:solidFill>
                <a:latin typeface="Agency FB" panose="020B0503020202020204" pitchFamily="34" charset="0"/>
              </a:rPr>
              <a:t>PSM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5EE38B2-C317-6321-8693-6388E8E67DDA}"/>
              </a:ext>
            </a:extLst>
          </p:cNvPr>
          <p:cNvSpPr/>
          <p:nvPr/>
        </p:nvSpPr>
        <p:spPr>
          <a:xfrm>
            <a:off x="588797" y="381229"/>
            <a:ext cx="10382751" cy="91557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3200" b="1" dirty="0">
                <a:latin typeface="Agency FB" panose="020B0503020202020204" pitchFamily="34" charset="0"/>
                <a:cs typeface="times" panose="02020603050405020304" pitchFamily="18" charset="0"/>
              </a:rPr>
              <a:t>Variables</a:t>
            </a:r>
            <a:endParaRPr lang="ko-KR" altLang="en-US" sz="3200" b="1" dirty="0">
              <a:latin typeface="Agency FB" panose="020B0503020202020204" pitchFamily="34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0486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4092F-AA60-878E-08FF-0D6449C61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F6A99258-4242-D3FA-5B66-AD2E8F4C8DC4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E42D84C-8A65-60A2-EF70-B37B06E668CA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90A3636-D3B9-80A9-8F3B-79A8C5E7FF89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1AB305D-A04C-3267-9024-99B523F6A422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6BEB1E5-20E8-844C-0322-A8A44355EDD8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15EDB94-88CC-A65B-1ACF-83C926D65389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CA20BD7-125D-1122-2485-34A47D2040ED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2E40E14-2D59-F31A-D235-B0CE99275C61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EF037B8-6E72-8E42-7C58-EAEF1FEE01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847"/>
          <a:stretch>
            <a:fillRect/>
          </a:stretch>
        </p:blipFill>
        <p:spPr>
          <a:xfrm>
            <a:off x="7791677" y="1536898"/>
            <a:ext cx="4034798" cy="370388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2850A40-342C-21DF-A5BC-817F457417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198" y="1316948"/>
            <a:ext cx="7374711" cy="4143787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53199FEC-7F84-10DE-9D45-CAF9D2A1777C}"/>
              </a:ext>
            </a:extLst>
          </p:cNvPr>
          <p:cNvSpPr/>
          <p:nvPr/>
        </p:nvSpPr>
        <p:spPr>
          <a:xfrm>
            <a:off x="588797" y="381229"/>
            <a:ext cx="10382751" cy="91557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3200" b="1" dirty="0">
                <a:latin typeface="Agency FB" panose="020B0503020202020204" pitchFamily="34" charset="0"/>
                <a:cs typeface="times" panose="02020603050405020304" pitchFamily="18" charset="0"/>
              </a:rPr>
              <a:t>Results</a:t>
            </a:r>
            <a:endParaRPr lang="ko-KR" altLang="en-US" sz="3200" b="1" dirty="0">
              <a:latin typeface="Agency FB" panose="020B0503020202020204" pitchFamily="34" charset="0"/>
              <a:cs typeface="times" panose="02020603050405020304" pitchFamily="18" charset="0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A11FCEB3-97C6-21CF-E77A-195AD6E648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61757"/>
              </p:ext>
            </p:extLst>
          </p:nvPr>
        </p:nvGraphicFramePr>
        <p:xfrm>
          <a:off x="588797" y="5527396"/>
          <a:ext cx="8210748" cy="109728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088106">
                  <a:extLst>
                    <a:ext uri="{9D8B030D-6E8A-4147-A177-3AD203B41FA5}">
                      <a16:colId xmlns:a16="http://schemas.microsoft.com/office/drawing/2014/main" val="4238886209"/>
                    </a:ext>
                  </a:extLst>
                </a:gridCol>
                <a:gridCol w="2647038">
                  <a:extLst>
                    <a:ext uri="{9D8B030D-6E8A-4147-A177-3AD203B41FA5}">
                      <a16:colId xmlns:a16="http://schemas.microsoft.com/office/drawing/2014/main" val="4231489435"/>
                    </a:ext>
                  </a:extLst>
                </a:gridCol>
                <a:gridCol w="2372530">
                  <a:extLst>
                    <a:ext uri="{9D8B030D-6E8A-4147-A177-3AD203B41FA5}">
                      <a16:colId xmlns:a16="http://schemas.microsoft.com/office/drawing/2014/main" val="1930251654"/>
                    </a:ext>
                  </a:extLst>
                </a:gridCol>
                <a:gridCol w="2103074">
                  <a:extLst>
                    <a:ext uri="{9D8B030D-6E8A-4147-A177-3AD203B41FA5}">
                      <a16:colId xmlns:a16="http://schemas.microsoft.com/office/drawing/2014/main" val="40525553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다운로드 안 한 그룹</a:t>
                      </a:r>
                      <a:r>
                        <a:rPr lang="en-US" altLang="ko-KR" dirty="0"/>
                        <a:t>(0)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다운로드 한 그룹</a:t>
                      </a:r>
                      <a:r>
                        <a:rPr lang="en-US" altLang="ko-KR" dirty="0"/>
                        <a:t>(1)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평균 지출액 차이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052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매칭 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5.67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8.81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1" dirty="0"/>
                        <a:t>3.14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3386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매칭 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7.39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8.79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1" dirty="0"/>
                        <a:t>1.40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71164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7B4E949-6673-C7C4-B88C-C23A287BDEF5}"/>
              </a:ext>
            </a:extLst>
          </p:cNvPr>
          <p:cNvSpPr txBox="1"/>
          <p:nvPr/>
        </p:nvSpPr>
        <p:spPr>
          <a:xfrm>
            <a:off x="242588" y="207931"/>
            <a:ext cx="10728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rgbClr val="581308"/>
                </a:solidFill>
                <a:latin typeface="Agency FB" panose="020B0503020202020204" pitchFamily="34" charset="0"/>
              </a:rPr>
              <a:t>PSM-t-test</a:t>
            </a:r>
          </a:p>
        </p:txBody>
      </p:sp>
    </p:spTree>
    <p:extLst>
      <p:ext uri="{BB962C8B-B14F-4D97-AF65-F5344CB8AC3E}">
        <p14:creationId xmlns:p14="http://schemas.microsoft.com/office/powerpoint/2010/main" val="1162237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034CC-581A-A1FA-6CF3-1EB8CE3AE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D2154823-E580-25D2-E263-5F972AA860D8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2CE07F3-3FD4-831D-C0F4-AA56041D630A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1708B13-7B4D-E674-6908-171FC38D4F33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1F9502A-10FC-0081-DB7A-2D7923572F4E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3DDDF5C-F8F0-1D77-CD3E-30760CB84952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48CD9E8-8B58-9C0C-3A25-597D3392F702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44BC310-F53C-710A-61C8-D36842F9053E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8B064E3-6518-B718-492D-6191A666BCCE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D233FB9-B7A3-2050-7DBB-E4D5B0EB78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93"/>
          <a:stretch>
            <a:fillRect/>
          </a:stretch>
        </p:blipFill>
        <p:spPr>
          <a:xfrm>
            <a:off x="588797" y="1691439"/>
            <a:ext cx="6177587" cy="3774336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29F5765-1502-FF37-A99D-5EC5393F707F}"/>
              </a:ext>
            </a:extLst>
          </p:cNvPr>
          <p:cNvGraphicFramePr>
            <a:graphicFrameLocks noGrp="1"/>
          </p:cNvGraphicFramePr>
          <p:nvPr/>
        </p:nvGraphicFramePr>
        <p:xfrm>
          <a:off x="588797" y="5527396"/>
          <a:ext cx="8210748" cy="109728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088106">
                  <a:extLst>
                    <a:ext uri="{9D8B030D-6E8A-4147-A177-3AD203B41FA5}">
                      <a16:colId xmlns:a16="http://schemas.microsoft.com/office/drawing/2014/main" val="4238886209"/>
                    </a:ext>
                  </a:extLst>
                </a:gridCol>
                <a:gridCol w="2647038">
                  <a:extLst>
                    <a:ext uri="{9D8B030D-6E8A-4147-A177-3AD203B41FA5}">
                      <a16:colId xmlns:a16="http://schemas.microsoft.com/office/drawing/2014/main" val="4231489435"/>
                    </a:ext>
                  </a:extLst>
                </a:gridCol>
                <a:gridCol w="2372530">
                  <a:extLst>
                    <a:ext uri="{9D8B030D-6E8A-4147-A177-3AD203B41FA5}">
                      <a16:colId xmlns:a16="http://schemas.microsoft.com/office/drawing/2014/main" val="1930251654"/>
                    </a:ext>
                  </a:extLst>
                </a:gridCol>
                <a:gridCol w="2103074">
                  <a:extLst>
                    <a:ext uri="{9D8B030D-6E8A-4147-A177-3AD203B41FA5}">
                      <a16:colId xmlns:a16="http://schemas.microsoft.com/office/drawing/2014/main" val="40525553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다운로드 안 한 그룹</a:t>
                      </a:r>
                      <a:r>
                        <a:rPr lang="en-US" altLang="ko-KR" dirty="0"/>
                        <a:t>(0)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다운로드 한 그룹</a:t>
                      </a:r>
                      <a:r>
                        <a:rPr lang="en-US" altLang="ko-KR" dirty="0"/>
                        <a:t>(1)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평균 지출액 차이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052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매칭 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5.67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8.81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1" dirty="0"/>
                        <a:t>3.14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3386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매칭 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7.39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8.79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1" dirty="0"/>
                        <a:t>1.40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71164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0863377-B273-9B6D-1E6C-E9B2D18D0127}"/>
              </a:ext>
            </a:extLst>
          </p:cNvPr>
          <p:cNvSpPr txBox="1"/>
          <p:nvPr/>
        </p:nvSpPr>
        <p:spPr>
          <a:xfrm>
            <a:off x="242588" y="207931"/>
            <a:ext cx="10728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rgbClr val="581308"/>
                </a:solidFill>
                <a:latin typeface="Agency FB" panose="020B0503020202020204" pitchFamily="34" charset="0"/>
              </a:rPr>
              <a:t>PSM-t-test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B6B4AC7-B843-B7B7-3E4A-4B83CE3C172D}"/>
              </a:ext>
            </a:extLst>
          </p:cNvPr>
          <p:cNvSpPr/>
          <p:nvPr/>
        </p:nvSpPr>
        <p:spPr>
          <a:xfrm>
            <a:off x="588797" y="381229"/>
            <a:ext cx="10382751" cy="91557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3200" b="1" dirty="0">
                <a:latin typeface="Agency FB" panose="020B0503020202020204" pitchFamily="34" charset="0"/>
                <a:cs typeface="times" panose="02020603050405020304" pitchFamily="18" charset="0"/>
              </a:rPr>
              <a:t>Results</a:t>
            </a:r>
            <a:endParaRPr lang="ko-KR" altLang="en-US" sz="3200" b="1" dirty="0">
              <a:latin typeface="Agency FB" panose="020B0503020202020204" pitchFamily="34" charset="0"/>
              <a:cs typeface="times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7D865C-22C5-AC3D-8B7C-2F062F84B530}"/>
              </a:ext>
            </a:extLst>
          </p:cNvPr>
          <p:cNvSpPr txBox="1"/>
          <p:nvPr/>
        </p:nvSpPr>
        <p:spPr>
          <a:xfrm>
            <a:off x="937094" y="1386435"/>
            <a:ext cx="7715066" cy="371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</a:pPr>
            <a:r>
              <a:rPr lang="ko-KR" altLang="en-US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쿠폰을 받지 않은 그룹의 소비 행태 비교</a:t>
            </a:r>
            <a:r>
              <a:rPr lang="en-US" alt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Unmatched -&gt; Matched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24D0F1-45DE-E839-54B1-91B4CF14446E}"/>
              </a:ext>
            </a:extLst>
          </p:cNvPr>
          <p:cNvSpPr txBox="1"/>
          <p:nvPr/>
        </p:nvSpPr>
        <p:spPr>
          <a:xfrm>
            <a:off x="6140468" y="2050045"/>
            <a:ext cx="5823031" cy="2504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b="1" dirty="0"/>
              <a:t>쿠폰 </a:t>
            </a:r>
            <a:r>
              <a:rPr lang="ko-KR" altLang="en-US" b="1" dirty="0" err="1"/>
              <a:t>다운로더들과</a:t>
            </a:r>
            <a:r>
              <a:rPr lang="ko-KR" altLang="en-US" b="1" dirty="0"/>
              <a:t> 같은 수준으로 매치된 소비행태</a:t>
            </a:r>
            <a:endParaRPr lang="en-US" altLang="ko-KR" b="1" dirty="0"/>
          </a:p>
          <a:p>
            <a:pPr marL="285750" marR="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b="1" dirty="0" err="1"/>
              <a:t>이로인해</a:t>
            </a:r>
            <a:r>
              <a:rPr lang="ko-KR" altLang="en-US" b="1" dirty="0"/>
              <a:t> 매칭 이전 비</a:t>
            </a:r>
            <a:r>
              <a:rPr lang="en-US" altLang="ko-KR" b="1" dirty="0"/>
              <a:t>-</a:t>
            </a:r>
            <a:r>
              <a:rPr lang="ko-KR" altLang="en-US" b="1" dirty="0" err="1"/>
              <a:t>다운로더들의</a:t>
            </a:r>
            <a:r>
              <a:rPr lang="ko-KR" altLang="en-US" b="1" dirty="0"/>
              <a:t> 소비행태가</a:t>
            </a:r>
            <a:br>
              <a:rPr lang="en-US" altLang="ko-KR" b="1" dirty="0"/>
            </a:br>
            <a:r>
              <a:rPr lang="ko-KR" altLang="en-US" b="1" dirty="0"/>
              <a:t>매칭 이후 조금 더 비싸거나</a:t>
            </a:r>
            <a:r>
              <a:rPr lang="en-US" altLang="ko-KR" b="1" dirty="0"/>
              <a:t>, </a:t>
            </a:r>
            <a:r>
              <a:rPr lang="ko-KR" altLang="en-US" b="1" dirty="0"/>
              <a:t>방문을 자주하게 됨</a:t>
            </a:r>
            <a:endParaRPr lang="en-US" altLang="ko-KR" b="1" dirty="0"/>
          </a:p>
          <a:p>
            <a:pPr marL="285750" marR="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b="1" dirty="0"/>
              <a:t>이 현상이 실제 </a:t>
            </a:r>
            <a:r>
              <a:rPr lang="en-US" altLang="ko-KR" b="1" dirty="0"/>
              <a:t>spending </a:t>
            </a:r>
            <a:r>
              <a:rPr lang="ko-KR" altLang="en-US" b="1" dirty="0"/>
              <a:t>에 반영</a:t>
            </a:r>
            <a:br>
              <a:rPr lang="en-US" altLang="ko-KR" b="1" dirty="0"/>
            </a:br>
            <a:r>
              <a:rPr lang="en-US" altLang="ko-KR" b="1" dirty="0"/>
              <a:t>(</a:t>
            </a:r>
            <a:r>
              <a:rPr lang="ko-KR" altLang="en-US" b="1" dirty="0"/>
              <a:t>쿠폰을 받지 않았어도 </a:t>
            </a:r>
            <a:r>
              <a:rPr lang="en-US" altLang="ko-KR" b="1" dirty="0"/>
              <a:t>matched </a:t>
            </a:r>
            <a:r>
              <a:rPr lang="ko-KR" altLang="en-US" b="1" dirty="0"/>
              <a:t>샘플이면 나서 올리브영 결제금액이 더 높아짐</a:t>
            </a:r>
            <a:r>
              <a:rPr lang="en-US" altLang="ko-KR" b="1" dirty="0"/>
              <a:t>-</a:t>
            </a:r>
            <a:r>
              <a:rPr lang="ko-KR" altLang="en-US" b="1" dirty="0"/>
              <a:t>왜냐면 쿠폰다운여부와 관계 없이</a:t>
            </a:r>
            <a:r>
              <a:rPr lang="en-US" altLang="ko-KR" b="1" dirty="0"/>
              <a:t>, </a:t>
            </a:r>
            <a:r>
              <a:rPr lang="ko-KR" altLang="en-US" b="1" dirty="0"/>
              <a:t>애초에 올리브영 소비에 조금 더 관심이 있고 쓰는 사람들이었으니까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857669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E994B-0DBD-0FB3-60F0-4436D2013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025808F4-187A-898A-47E8-3E5977EF7C1D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BEF1121-AAF3-F451-7CED-882174B90A11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05A62E2-655E-A7F4-072C-17FEEE6F5A3E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E63FA82-EA1A-1C50-A129-C8E3046161E3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3AF7E8F-DF46-B8CD-1274-482317A1FB37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B478C81-8256-8F38-25A1-9D92F8790E05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DFF3806-7C7C-62A6-BCC6-0832781B5B36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4001D09-AEBC-155C-D672-978FB75C7020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D679A01B-527C-BDA3-E230-A50AEA380C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205267"/>
              </p:ext>
            </p:extLst>
          </p:nvPr>
        </p:nvGraphicFramePr>
        <p:xfrm>
          <a:off x="629273" y="761929"/>
          <a:ext cx="6400308" cy="5755930"/>
        </p:xfrm>
        <a:graphic>
          <a:graphicData uri="http://schemas.openxmlformats.org/drawingml/2006/table">
            <a:tbl>
              <a:tblPr/>
              <a:tblGrid>
                <a:gridCol w="1447978">
                  <a:extLst>
                    <a:ext uri="{9D8B030D-6E8A-4147-A177-3AD203B41FA5}">
                      <a16:colId xmlns:a16="http://schemas.microsoft.com/office/drawing/2014/main" val="4084304928"/>
                    </a:ext>
                  </a:extLst>
                </a:gridCol>
                <a:gridCol w="1447978">
                  <a:extLst>
                    <a:ext uri="{9D8B030D-6E8A-4147-A177-3AD203B41FA5}">
                      <a16:colId xmlns:a16="http://schemas.microsoft.com/office/drawing/2014/main" val="1392139577"/>
                    </a:ext>
                  </a:extLst>
                </a:gridCol>
                <a:gridCol w="876088">
                  <a:extLst>
                    <a:ext uri="{9D8B030D-6E8A-4147-A177-3AD203B41FA5}">
                      <a16:colId xmlns:a16="http://schemas.microsoft.com/office/drawing/2014/main" val="484666533"/>
                    </a:ext>
                  </a:extLst>
                </a:gridCol>
                <a:gridCol w="876088">
                  <a:extLst>
                    <a:ext uri="{9D8B030D-6E8A-4147-A177-3AD203B41FA5}">
                      <a16:colId xmlns:a16="http://schemas.microsoft.com/office/drawing/2014/main" val="1746968621"/>
                    </a:ext>
                  </a:extLst>
                </a:gridCol>
                <a:gridCol w="876088">
                  <a:extLst>
                    <a:ext uri="{9D8B030D-6E8A-4147-A177-3AD203B41FA5}">
                      <a16:colId xmlns:a16="http://schemas.microsoft.com/office/drawing/2014/main" val="2749488516"/>
                    </a:ext>
                  </a:extLst>
                </a:gridCol>
                <a:gridCol w="876088">
                  <a:extLst>
                    <a:ext uri="{9D8B030D-6E8A-4147-A177-3AD203B41FA5}">
                      <a16:colId xmlns:a16="http://schemas.microsoft.com/office/drawing/2014/main" val="753762409"/>
                    </a:ext>
                  </a:extLst>
                </a:gridCol>
              </a:tblGrid>
              <a:tr h="229034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(1) Selection Equation (Probit)</a:t>
                      </a:r>
                    </a:p>
                  </a:txBody>
                  <a:tcPr marL="118283" marR="118283" marT="59141" marB="591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161476"/>
                  </a:ext>
                </a:extLst>
              </a:tr>
              <a:tr h="2680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Variable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Coef.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S.E.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p-value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방향성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710361"/>
                  </a:ext>
                </a:extLst>
              </a:tr>
              <a:tr h="2680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DV: PMU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4867810"/>
                  </a:ext>
                </a:extLst>
              </a:tr>
              <a:tr h="2680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CNT_18Y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0.012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0.004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3.1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0.002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3941529"/>
                  </a:ext>
                </a:extLst>
              </a:tr>
              <a:tr h="2680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CNT_18Y_OLV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0.388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0.016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24.5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&lt;0.001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79771"/>
                  </a:ext>
                </a:extLst>
              </a:tr>
              <a:tr h="2680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Weekend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0.021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0.009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2.3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0.021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4682083"/>
                  </a:ext>
                </a:extLst>
              </a:tr>
              <a:tr h="2680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Badair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0.033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3.3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0.001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7705746"/>
                  </a:ext>
                </a:extLst>
              </a:tr>
              <a:tr h="2680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MSG1–MSG5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0~+0.04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ns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—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—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약한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940339"/>
                  </a:ext>
                </a:extLst>
              </a:tr>
              <a:tr h="2680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8357753"/>
                  </a:ext>
                </a:extLst>
              </a:tr>
              <a:tr h="2680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2836676"/>
                  </a:ext>
                </a:extLst>
              </a:tr>
              <a:tr h="268034">
                <a:tc grid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(2) Outcome Equation (Heckman outcome)</a:t>
                      </a:r>
                    </a:p>
                  </a:txBody>
                  <a:tcPr marL="118283" marR="118283" marT="59141" marB="591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558244"/>
                  </a:ext>
                </a:extLst>
              </a:tr>
              <a:tr h="2680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Variable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Coef.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S.E.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p-value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방향성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9152888"/>
                  </a:ext>
                </a:extLst>
              </a:tr>
              <a:tr h="2680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DV: SSV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57913"/>
                  </a:ext>
                </a:extLst>
              </a:tr>
              <a:tr h="2680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USE_AMT_18Y1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0.0369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0.0021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17.6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&lt;0.001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강한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1554127"/>
                  </a:ext>
                </a:extLst>
              </a:tr>
              <a:tr h="2680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PERIOD_M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−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0.0118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0.0043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-2.71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0.007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6989798"/>
                  </a:ext>
                </a:extLst>
              </a:tr>
              <a:tr h="2680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MSG1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0.162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1.24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2.1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0.036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4259298"/>
                  </a:ext>
                </a:extLst>
              </a:tr>
              <a:tr h="2680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MSG2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0.228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1.23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2.4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0.016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231892"/>
                  </a:ext>
                </a:extLst>
              </a:tr>
              <a:tr h="2680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MSG3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1.55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1.27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3.1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0.002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5982561"/>
                  </a:ext>
                </a:extLst>
              </a:tr>
              <a:tr h="2680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MSG4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0.905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1.21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2.21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0.027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4591162"/>
                  </a:ext>
                </a:extLst>
              </a:tr>
              <a:tr h="2680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MSG5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0.422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1.25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0.045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4982643"/>
                  </a:ext>
                </a:extLst>
              </a:tr>
              <a:tr h="2680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l-G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λ (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IMR)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1.987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0.63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3.28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0.001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강한 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701456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E5D71DB9-BFA4-AE09-4C8C-BB7EA93372BA}"/>
              </a:ext>
            </a:extLst>
          </p:cNvPr>
          <p:cNvSpPr txBox="1"/>
          <p:nvPr/>
        </p:nvSpPr>
        <p:spPr>
          <a:xfrm>
            <a:off x="7266680" y="972424"/>
            <a:ext cx="489459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과거 </a:t>
            </a:r>
            <a:r>
              <a:rPr lang="en-US" altLang="ko-KR" dirty="0"/>
              <a:t>Olive Young </a:t>
            </a:r>
            <a:r>
              <a:rPr lang="ko-KR" altLang="en-US" dirty="0"/>
              <a:t>메시지 노출 빈도</a:t>
            </a:r>
            <a:br>
              <a:rPr lang="en-US" altLang="ko-KR" dirty="0"/>
            </a:br>
            <a:r>
              <a:rPr lang="en-US" altLang="ko-KR" dirty="0"/>
              <a:t>(CNT_18Y, CNT_18Y_OLV)</a:t>
            </a:r>
            <a:r>
              <a:rPr lang="ko-KR" altLang="en-US" dirty="0"/>
              <a:t>가 방문 가능성을</a:t>
            </a:r>
            <a:br>
              <a:rPr lang="en-US" altLang="ko-KR" dirty="0"/>
            </a:br>
            <a:r>
              <a:rPr lang="ko-KR" altLang="en-US" dirty="0"/>
              <a:t>유의하게 증가시킴 </a:t>
            </a:r>
            <a:r>
              <a:rPr lang="en-US" altLang="ko-KR" dirty="0"/>
              <a:t>(p&lt;0.01)</a:t>
            </a:r>
          </a:p>
          <a:p>
            <a:endParaRPr lang="en-US" altLang="ko-KR" dirty="0"/>
          </a:p>
          <a:p>
            <a:r>
              <a:rPr lang="en-US" altLang="ko-KR" dirty="0"/>
              <a:t>Weekend </a:t>
            </a:r>
            <a:r>
              <a:rPr lang="ko-KR" altLang="en-US" dirty="0"/>
              <a:t>및 </a:t>
            </a:r>
            <a:r>
              <a:rPr lang="en-US" altLang="ko-KR" dirty="0" err="1"/>
              <a:t>Badair</a:t>
            </a:r>
            <a:r>
              <a:rPr lang="en-US" altLang="ko-KR" dirty="0"/>
              <a:t> </a:t>
            </a:r>
            <a:r>
              <a:rPr lang="ko-KR" altLang="en-US" dirty="0"/>
              <a:t>역시 양의 방향으로</a:t>
            </a:r>
            <a:endParaRPr lang="en-US" altLang="ko-KR" dirty="0"/>
          </a:p>
          <a:p>
            <a:r>
              <a:rPr lang="ko-KR" altLang="en-US" dirty="0"/>
              <a:t>방문 확률을 증가시킴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7E3C32-D7D8-479A-FD95-274EB892E3F5}"/>
              </a:ext>
            </a:extLst>
          </p:cNvPr>
          <p:cNvSpPr txBox="1"/>
          <p:nvPr/>
        </p:nvSpPr>
        <p:spPr>
          <a:xfrm>
            <a:off x="7188163" y="4160734"/>
            <a:ext cx="489459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과거 지출액</a:t>
            </a:r>
            <a:r>
              <a:rPr lang="en-US" altLang="ko-KR" dirty="0"/>
              <a:t>(USE_AMT_18Y1)</a:t>
            </a:r>
            <a:r>
              <a:rPr lang="ko-KR" altLang="en-US" dirty="0"/>
              <a:t>이 가장 강력한 예측요인으로 확인됨</a:t>
            </a:r>
            <a:r>
              <a:rPr lang="en-US" altLang="ko-KR" dirty="0"/>
              <a:t>(p&lt;0.001)</a:t>
            </a:r>
          </a:p>
          <a:p>
            <a:endParaRPr lang="en-US" altLang="ko-KR" dirty="0"/>
          </a:p>
          <a:p>
            <a:r>
              <a:rPr lang="ko-KR" altLang="en-US" dirty="0"/>
              <a:t>카드 보유기간</a:t>
            </a:r>
            <a:r>
              <a:rPr lang="en-US" altLang="ko-KR" dirty="0"/>
              <a:t>(PERIOD_M)</a:t>
            </a:r>
            <a:r>
              <a:rPr lang="ko-KR" altLang="en-US" dirty="0"/>
              <a:t>은 음</a:t>
            </a:r>
            <a:r>
              <a:rPr lang="en-US" altLang="ko-KR" dirty="0"/>
              <a:t>(-)</a:t>
            </a:r>
            <a:r>
              <a:rPr lang="ko-KR" altLang="en-US" dirty="0"/>
              <a:t>의 방향으로 유의한 영향을 미침</a:t>
            </a:r>
            <a:r>
              <a:rPr lang="en-US" altLang="ko-KR" dirty="0"/>
              <a:t>(p&lt;0.01). </a:t>
            </a:r>
          </a:p>
          <a:p>
            <a:endParaRPr lang="en-US" altLang="ko-KR" dirty="0"/>
          </a:p>
          <a:p>
            <a:r>
              <a:rPr lang="ko-KR" altLang="en-US" dirty="0"/>
              <a:t>메시지 유형</a:t>
            </a:r>
            <a:r>
              <a:rPr lang="en-US" altLang="ko-KR" dirty="0"/>
              <a:t>(MSG1~MSG5)</a:t>
            </a:r>
            <a:r>
              <a:rPr lang="ko-KR" altLang="en-US" dirty="0"/>
              <a:t>은 모두 기준 메시지 대비 유의한 양의 효과를 보여줌 </a:t>
            </a:r>
            <a:r>
              <a:rPr lang="en-US" altLang="ko-KR" dirty="0"/>
              <a:t>(p&lt;0.05),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93ADC7-0E49-8619-501D-4988EF745A09}"/>
              </a:ext>
            </a:extLst>
          </p:cNvPr>
          <p:cNvSpPr txBox="1"/>
          <p:nvPr/>
        </p:nvSpPr>
        <p:spPr>
          <a:xfrm>
            <a:off x="242588" y="207931"/>
            <a:ext cx="10728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rgbClr val="581308"/>
                </a:solidFill>
                <a:latin typeface="Agency FB" panose="020B0503020202020204" pitchFamily="34" charset="0"/>
              </a:rPr>
              <a:t>PSM-Heckman</a:t>
            </a:r>
          </a:p>
        </p:txBody>
      </p:sp>
    </p:spTree>
    <p:extLst>
      <p:ext uri="{BB962C8B-B14F-4D97-AF65-F5344CB8AC3E}">
        <p14:creationId xmlns:p14="http://schemas.microsoft.com/office/powerpoint/2010/main" val="3272402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07C39-13DD-9736-FFA6-46258C0F8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9BD6E6FB-2D1F-7D69-58C9-C50D32B0D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972" y="3527350"/>
            <a:ext cx="5138725" cy="3187311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E2277B0F-9767-7192-995D-5B98580144F7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0A5C325-771F-FC48-CA73-9FD28A324906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D7A8ACF-FA45-00B2-A488-597FD078677D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C070158-59EA-8FD9-CA26-F59CF845A6C2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1381A28-5975-275D-DC03-3DE4372A0C93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988C439-F4FC-1894-B1A5-ECE1901783F8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39C8982-2611-20D3-DA55-184EA6482793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9DD9C17-FA10-1041-D6A2-D17DD876C7F7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5965BC-7A00-DB48-8EDB-D24941D82A8C}"/>
              </a:ext>
            </a:extLst>
          </p:cNvPr>
          <p:cNvSpPr txBox="1"/>
          <p:nvPr/>
        </p:nvSpPr>
        <p:spPr>
          <a:xfrm>
            <a:off x="242588" y="207931"/>
            <a:ext cx="10728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 err="1">
                <a:solidFill>
                  <a:srgbClr val="581308"/>
                </a:solidFill>
                <a:latin typeface="Agency FB" panose="020B0503020202020204" pitchFamily="34" charset="0"/>
              </a:rPr>
              <a:t>Dragonnet</a:t>
            </a:r>
            <a:endParaRPr lang="en-US" altLang="ko-KR" sz="3000" b="1" dirty="0">
              <a:solidFill>
                <a:srgbClr val="581308"/>
              </a:solidFill>
              <a:latin typeface="Agency FB" panose="020B0503020202020204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9BE6A51-0A8E-00A0-5FA1-BE60BE410867}"/>
              </a:ext>
            </a:extLst>
          </p:cNvPr>
          <p:cNvSpPr/>
          <p:nvPr/>
        </p:nvSpPr>
        <p:spPr>
          <a:xfrm>
            <a:off x="588797" y="381229"/>
            <a:ext cx="10382751" cy="91557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3200" b="1" dirty="0">
                <a:latin typeface="Agency FB" panose="020B0503020202020204" pitchFamily="34" charset="0"/>
                <a:cs typeface="times" panose="02020603050405020304" pitchFamily="18" charset="0"/>
              </a:rPr>
              <a:t>기존 인과추정의 한계</a:t>
            </a:r>
          </a:p>
        </p:txBody>
      </p:sp>
      <p:sp>
        <p:nvSpPr>
          <p:cNvPr id="6" name="Google Shape;101;p3">
            <a:extLst>
              <a:ext uri="{FF2B5EF4-FFF2-40B4-BE49-F238E27FC236}">
                <a16:creationId xmlns:a16="http://schemas.microsoft.com/office/drawing/2014/main" id="{F0A16643-ADA6-816E-DD7A-FACAFA11FA48}"/>
              </a:ext>
            </a:extLst>
          </p:cNvPr>
          <p:cNvSpPr txBox="1"/>
          <p:nvPr/>
        </p:nvSpPr>
        <p:spPr>
          <a:xfrm>
            <a:off x="588796" y="1381054"/>
            <a:ext cx="9565467" cy="1785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1) </a:t>
            </a:r>
            <a:r>
              <a:rPr lang="ko-KR" altLang="en-US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전통적 인과추정</a:t>
            </a:r>
            <a:endParaRPr lang="en-US" altLang="ko-KR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>
              <a:lnSpc>
                <a:spcPct val="110000"/>
              </a:lnSpc>
            </a:pP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en-US" altLang="ko-KR" b="1" dirty="0"/>
              <a:t>Y = β₀ + β₁X₁ + β₂X₂ + …</a:t>
            </a:r>
            <a:b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</a:p>
          <a:p>
            <a:pPr lvl="0">
              <a:lnSpc>
                <a:spcPct val="110000"/>
              </a:lnSpc>
            </a:pP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현실은 직선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(or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단순한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Sigmoid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곡선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으로 설명되는가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?</a:t>
            </a:r>
          </a:p>
          <a:p>
            <a:pPr lvl="0">
              <a:lnSpc>
                <a:spcPct val="110000"/>
              </a:lnSpc>
            </a:pP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실제로 단순한 선으로 표현이 힘든 경우가 많음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Wingdings" panose="05000000000000000000" pitchFamily="2" charset="2"/>
              </a:rPr>
              <a:t>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Wingdings" panose="05000000000000000000" pitchFamily="2" charset="2"/>
              </a:rPr>
              <a:t>실제 데이터의 비선형 구조를 제대로 반영 못함</a:t>
            </a: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>
              <a:lnSpc>
                <a:spcPct val="110000"/>
              </a:lnSpc>
            </a:pP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ex)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나이와 약효의 관계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Wingdings" panose="05000000000000000000" pitchFamily="2" charset="2"/>
              </a:rPr>
              <a:t>: 20~40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Wingdings" panose="05000000000000000000" pitchFamily="2" charset="2"/>
              </a:rPr>
              <a:t>세까지는 효과증가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Wingdings" panose="05000000000000000000" pitchFamily="2" charset="2"/>
              </a:rPr>
              <a:t>, 40-60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Wingdings" panose="05000000000000000000" pitchFamily="2" charset="2"/>
              </a:rPr>
              <a:t>세는 </a:t>
            </a:r>
            <a:r>
              <a:rPr lang="ko-KR" altLang="en-US" sz="16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Wingdings" panose="05000000000000000000" pitchFamily="2" charset="2"/>
              </a:rPr>
              <a:t>변화없음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Wingdings" panose="05000000000000000000" pitchFamily="2" charset="2"/>
              </a:rPr>
              <a:t>, 60</a:t>
            </a:r>
            <a:r>
              <a:rPr lang="ko-KR" altLang="en-US" sz="16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Wingdings" panose="05000000000000000000" pitchFamily="2" charset="2"/>
              </a:rPr>
              <a:t>세이후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Wingdings" panose="05000000000000000000" pitchFamily="2" charset="2"/>
              </a:rPr>
              <a:t> 급격히 감소</a:t>
            </a:r>
            <a:endParaRPr lang="ko-KR" altLang="en-US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" name="Google Shape;101;p3">
            <a:extLst>
              <a:ext uri="{FF2B5EF4-FFF2-40B4-BE49-F238E27FC236}">
                <a16:creationId xmlns:a16="http://schemas.microsoft.com/office/drawing/2014/main" id="{536682A8-8CA3-02AC-BDD7-6ECA57D92F36}"/>
              </a:ext>
            </a:extLst>
          </p:cNvPr>
          <p:cNvSpPr txBox="1"/>
          <p:nvPr/>
        </p:nvSpPr>
        <p:spPr>
          <a:xfrm>
            <a:off x="588797" y="3393878"/>
            <a:ext cx="8455450" cy="3545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2) </a:t>
            </a:r>
            <a:r>
              <a:rPr lang="ko-KR" altLang="en-US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지나치게 복잡한 </a:t>
            </a: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Interaction</a:t>
            </a:r>
          </a:p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>
              <a:lnSpc>
                <a:spcPct val="110000"/>
              </a:lnSpc>
            </a:pP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전통적인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Regression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에서는 </a:t>
            </a:r>
            <a:r>
              <a:rPr lang="ko-KR" altLang="en-US" sz="16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변수간의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Interaction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고려하려면</a:t>
            </a:r>
            <a:b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Interaction term</a:t>
            </a: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(a</a:t>
            </a: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*</a:t>
            </a: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b)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혹은 </a:t>
            </a:r>
            <a:r>
              <a:rPr lang="ko-KR" altLang="en-US" sz="16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제곱항</a:t>
            </a: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en-US" altLang="ko-KR" sz="1600" b="1" dirty="0"/>
              <a:t>a²)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등을 넣어야 함</a:t>
            </a: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altLang="ko-KR" sz="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-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데이터의 변수가 수십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16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수백개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일 수 있고</a:t>
            </a:r>
            <a:b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현실에 적용되는 상호작용이 무한히 많을 수 있는데</a:t>
            </a:r>
            <a:b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이러한 모든 조합을 사람이 정확하게 관찰하여 </a:t>
            </a:r>
            <a:b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모델에 </a:t>
            </a:r>
            <a:r>
              <a:rPr lang="ko-KR" altLang="en-US" sz="16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투입하는게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불가능에 가깝다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</a:p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altLang="ko-KR" sz="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-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또한 모든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Interaction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고려된 모델을 만들어도</a:t>
            </a:r>
            <a:b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변수가 많아지면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전통적 </a:t>
            </a:r>
            <a:r>
              <a:rPr lang="en-US" altLang="ko-KR" sz="16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regressio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은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＂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고차원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문제를 겪는다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b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Multicollinearity / Overfitting…</a:t>
            </a:r>
            <a:endParaRPr lang="ko-KR" altLang="en-US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848258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D33CE-E43B-41E4-A8EE-B4CE64AD2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B22DFFA4-D21C-9798-8B45-6092C45B7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788" y="3625826"/>
            <a:ext cx="5138725" cy="3187311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E5C4C546-3A34-012A-2474-91C3FEA4F736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48823E6-D56F-D897-B8CC-71AFA6D07F6D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B518F93-5414-F062-088A-04BCBD2B490C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732190F-4FAD-6276-7B8F-E8CA4E371E2E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A3C1E7E-A0BF-7722-DD8C-EAB6EB0212A9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0348489-169C-7542-D8DB-C952FE4A64E6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21E3963-E429-7A62-C383-26888F2E726B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DE950F1-BE3B-CCDB-3B80-670634F101EB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4C956D-AD5F-4363-5135-634EB716AE27}"/>
              </a:ext>
            </a:extLst>
          </p:cNvPr>
          <p:cNvSpPr txBox="1"/>
          <p:nvPr/>
        </p:nvSpPr>
        <p:spPr>
          <a:xfrm>
            <a:off x="242588" y="207931"/>
            <a:ext cx="10728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 err="1">
                <a:solidFill>
                  <a:srgbClr val="581308"/>
                </a:solidFill>
                <a:latin typeface="Agency FB" panose="020B0503020202020204" pitchFamily="34" charset="0"/>
              </a:rPr>
              <a:t>Dragonnet</a:t>
            </a:r>
            <a:endParaRPr lang="en-US" altLang="ko-KR" sz="3000" b="1" dirty="0">
              <a:solidFill>
                <a:srgbClr val="581308"/>
              </a:solidFill>
              <a:latin typeface="Agency FB" panose="020B0503020202020204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03B7453-EF19-6C3A-9B88-4B56237A9C57}"/>
              </a:ext>
            </a:extLst>
          </p:cNvPr>
          <p:cNvSpPr/>
          <p:nvPr/>
        </p:nvSpPr>
        <p:spPr>
          <a:xfrm>
            <a:off x="588797" y="381229"/>
            <a:ext cx="10382751" cy="91557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3200" b="1" dirty="0">
                <a:latin typeface="Agency FB" panose="020B0503020202020204" pitchFamily="34" charset="0"/>
                <a:cs typeface="times" panose="02020603050405020304" pitchFamily="18" charset="0"/>
              </a:rPr>
              <a:t>기존 인과추정의 한계</a:t>
            </a:r>
          </a:p>
        </p:txBody>
      </p:sp>
      <p:sp>
        <p:nvSpPr>
          <p:cNvPr id="6" name="Google Shape;101;p3">
            <a:extLst>
              <a:ext uri="{FF2B5EF4-FFF2-40B4-BE49-F238E27FC236}">
                <a16:creationId xmlns:a16="http://schemas.microsoft.com/office/drawing/2014/main" id="{F6B70459-73AC-9326-7EE8-E4B008907F74}"/>
              </a:ext>
            </a:extLst>
          </p:cNvPr>
          <p:cNvSpPr txBox="1"/>
          <p:nvPr/>
        </p:nvSpPr>
        <p:spPr>
          <a:xfrm>
            <a:off x="588796" y="1381054"/>
            <a:ext cx="9565467" cy="2597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3) PSM</a:t>
            </a:r>
            <a:r>
              <a:rPr lang="ko-KR" altLang="en-US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 한계</a:t>
            </a:r>
            <a:endParaRPr lang="en-US" altLang="ko-KR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>
              <a:lnSpc>
                <a:spcPct val="110000"/>
              </a:lnSpc>
            </a:pP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en-US" altLang="ko-KR" b="1" dirty="0"/>
              <a:t>Propensity</a:t>
            </a: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 Score Matching</a:t>
            </a:r>
            <a:endParaRPr lang="en-US" altLang="ko-KR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>
              <a:lnSpc>
                <a:spcPct val="110000"/>
              </a:lnSpc>
            </a:pP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Selection bias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해결하기 위해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Covariance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분포를 두 </a:t>
            </a:r>
            <a:r>
              <a:rPr lang="ko-KR" altLang="en-US" sz="16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그룹간에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맞춰주지만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..</a:t>
            </a:r>
          </a:p>
          <a:p>
            <a:pPr marL="285750" lvl="0" indent="-285750">
              <a:lnSpc>
                <a:spcPct val="110000"/>
              </a:lnSpc>
              <a:buFontTx/>
              <a:buChar char="-"/>
            </a:pP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개인별로 누가 더 처치에 따른 효과를 많이 보는지</a:t>
            </a:r>
            <a:b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en-US" sz="16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이와같은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이질성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(Heterogeneity)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어떻게 되는지는 알 수 없다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</a:p>
          <a:p>
            <a:pPr marL="285750" lvl="0" indent="-285750">
              <a:lnSpc>
                <a:spcPct val="110000"/>
              </a:lnSpc>
              <a:buFontTx/>
              <a:buChar char="-"/>
            </a:pP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>
              <a:lnSpc>
                <a:spcPct val="110000"/>
              </a:lnSpc>
            </a:pP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Heckman Model </a:t>
            </a: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에서도</a:t>
            </a:r>
            <a:b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마찬가지로 효과의 개인간 이질성을 확인하기 힘들며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b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변수간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Interaction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연구자의 통찰에 의존해야 한다는 한계가 존재한다</a:t>
            </a:r>
          </a:p>
        </p:txBody>
      </p:sp>
      <p:sp>
        <p:nvSpPr>
          <p:cNvPr id="7" name="Google Shape;101;p3">
            <a:extLst>
              <a:ext uri="{FF2B5EF4-FFF2-40B4-BE49-F238E27FC236}">
                <a16:creationId xmlns:a16="http://schemas.microsoft.com/office/drawing/2014/main" id="{33266052-C874-072F-1CE9-E392165C2C11}"/>
              </a:ext>
            </a:extLst>
          </p:cNvPr>
          <p:cNvSpPr txBox="1"/>
          <p:nvPr/>
        </p:nvSpPr>
        <p:spPr>
          <a:xfrm>
            <a:off x="588795" y="4142933"/>
            <a:ext cx="9565467" cy="2597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4) </a:t>
            </a:r>
            <a:r>
              <a:rPr lang="ko-KR" altLang="en-US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전통적 인과추정의 한계</a:t>
            </a:r>
            <a:endParaRPr lang="en-US" altLang="ko-KR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>
              <a:lnSpc>
                <a:spcPct val="110000"/>
              </a:lnSpc>
            </a:pP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en-US" altLang="ko-KR" b="1" dirty="0"/>
              <a:t>Y = β₀ + β₁X₁ + β₂X₂ + …</a:t>
            </a:r>
            <a:b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</a:p>
          <a:p>
            <a:pPr lvl="0">
              <a:lnSpc>
                <a:spcPct val="110000"/>
              </a:lnSpc>
            </a:pP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표본에 동일한 </a:t>
            </a:r>
            <a:r>
              <a:rPr lang="en-US" altLang="ko-KR" sz="1600" b="1" dirty="0"/>
              <a:t>β</a:t>
            </a:r>
            <a:r>
              <a:rPr lang="en-US" altLang="ko-KR" sz="1600" dirty="0"/>
              <a:t> </a:t>
            </a:r>
            <a:r>
              <a:rPr lang="ko-KR" altLang="en-US" sz="1600" dirty="0"/>
              <a:t>를 적용하는 전통적 인과추정 모델들은</a:t>
            </a:r>
            <a:br>
              <a:rPr lang="en-US" altLang="ko-KR" sz="1600" dirty="0"/>
            </a:br>
            <a:r>
              <a:rPr lang="en-US" altLang="ko-KR" sz="1600" dirty="0"/>
              <a:t>  </a:t>
            </a:r>
            <a:r>
              <a:rPr lang="ko-KR" altLang="en-US" sz="1600" dirty="0"/>
              <a:t>모든 사람들에게 동일한 효과가 작동한다고 가정하여</a:t>
            </a:r>
            <a:br>
              <a:rPr lang="en-US" altLang="ko-KR" sz="1600" dirty="0"/>
            </a:br>
            <a:r>
              <a:rPr lang="en-US" altLang="ko-KR" sz="1600" dirty="0"/>
              <a:t>  </a:t>
            </a:r>
            <a:r>
              <a:rPr lang="ko-KR" altLang="en-US" sz="1600" dirty="0" err="1"/>
              <a:t>이로인해</a:t>
            </a:r>
            <a:r>
              <a:rPr lang="ko-KR" altLang="en-US" sz="1600" dirty="0"/>
              <a:t> 개인의 다름이 미치는 영향력을 고려하기 힘들어</a:t>
            </a:r>
            <a:br>
              <a:rPr lang="en-US" altLang="ko-KR" sz="1600" dirty="0"/>
            </a:br>
            <a:r>
              <a:rPr lang="en-US" altLang="ko-KR" sz="1600" dirty="0"/>
              <a:t>  </a:t>
            </a:r>
            <a:r>
              <a:rPr lang="ko-KR" altLang="en-US" sz="1600" dirty="0"/>
              <a:t>더 보다 세부적인 추정과 예측이 제한된다</a:t>
            </a:r>
            <a:r>
              <a:rPr lang="en-US" altLang="ko-KR" sz="1600" dirty="0"/>
              <a:t>.</a:t>
            </a:r>
          </a:p>
          <a:p>
            <a:pPr lvl="0">
              <a:lnSpc>
                <a:spcPct val="110000"/>
              </a:lnSpc>
            </a:pPr>
            <a:b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그래서 </a:t>
            </a:r>
            <a:r>
              <a:rPr lang="en-US" altLang="ko-KR" sz="16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DragonNet</a:t>
            </a: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</a:t>
            </a:r>
            <a:r>
              <a:rPr lang="ko-KR" altLang="en-US" sz="16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머신러닝</a:t>
            </a: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기반 인과추정 모델이 등장한다</a:t>
            </a:r>
          </a:p>
        </p:txBody>
      </p:sp>
    </p:spTree>
    <p:extLst>
      <p:ext uri="{BB962C8B-B14F-4D97-AF65-F5344CB8AC3E}">
        <p14:creationId xmlns:p14="http://schemas.microsoft.com/office/powerpoint/2010/main" val="2318682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31119-892A-3811-CD46-F180CFC0B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DD1F55F5-A4A0-9482-90E6-756140BC6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885" y="811102"/>
            <a:ext cx="5104466" cy="370691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E2D1D29-AA63-CF8A-6B2F-592ECAA11155}"/>
              </a:ext>
            </a:extLst>
          </p:cNvPr>
          <p:cNvSpPr txBox="1"/>
          <p:nvPr/>
        </p:nvSpPr>
        <p:spPr>
          <a:xfrm>
            <a:off x="10552205" y="1402575"/>
            <a:ext cx="1560583" cy="481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2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쿠폰을 받지 않을 때의 예상 소비액</a:t>
            </a:r>
            <a:endParaRPr lang="en-US" altLang="ko-KR" sz="12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E13D76-122D-2CE7-DC30-D731F31DF019}"/>
              </a:ext>
            </a:extLst>
          </p:cNvPr>
          <p:cNvSpPr txBox="1"/>
          <p:nvPr/>
        </p:nvSpPr>
        <p:spPr>
          <a:xfrm>
            <a:off x="10552206" y="2913148"/>
            <a:ext cx="1560583" cy="481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2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쿠폰을 받았을 때의 예상 소비액</a:t>
            </a:r>
            <a:endParaRPr lang="en-US" altLang="ko-KR" sz="12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6E28AF0-4E7D-F48A-DC21-E81BF180D741}"/>
              </a:ext>
            </a:extLst>
          </p:cNvPr>
          <p:cNvGraphicFramePr>
            <a:graphicFrameLocks noGrp="1"/>
          </p:cNvGraphicFramePr>
          <p:nvPr/>
        </p:nvGraphicFramePr>
        <p:xfrm>
          <a:off x="647841" y="4846347"/>
          <a:ext cx="10894328" cy="182880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650410">
                  <a:extLst>
                    <a:ext uri="{9D8B030D-6E8A-4147-A177-3AD203B41FA5}">
                      <a16:colId xmlns:a16="http://schemas.microsoft.com/office/drawing/2014/main" val="164392183"/>
                    </a:ext>
                  </a:extLst>
                </a:gridCol>
                <a:gridCol w="4213001">
                  <a:extLst>
                    <a:ext uri="{9D8B030D-6E8A-4147-A177-3AD203B41FA5}">
                      <a16:colId xmlns:a16="http://schemas.microsoft.com/office/drawing/2014/main" val="3180959400"/>
                    </a:ext>
                  </a:extLst>
                </a:gridCol>
                <a:gridCol w="5030917">
                  <a:extLst>
                    <a:ext uri="{9D8B030D-6E8A-4147-A177-3AD203B41FA5}">
                      <a16:colId xmlns:a16="http://schemas.microsoft.com/office/drawing/2014/main" val="37413645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구분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PSM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Dragonnet</a:t>
                      </a:r>
                      <a:endParaRPr 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414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데이터 사용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매칭된 표본만 사용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 err="1"/>
                        <a:t>비매칭</a:t>
                      </a:r>
                      <a:r>
                        <a:rPr lang="ko-KR" altLang="en-US" dirty="0"/>
                        <a:t> 표본 제외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전체 표본 사용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7895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인과추정 방식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짝짓기 후 평균차이 비교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신경망이 두 잠재결과</a:t>
                      </a:r>
                      <a:r>
                        <a:rPr lang="en-US" altLang="ko-KR"/>
                        <a:t>(Y₁,Y₀)</a:t>
                      </a:r>
                      <a:r>
                        <a:rPr lang="ko-KR" altLang="en-US"/>
                        <a:t>를 모두 예측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1455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비응답자 처리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단순 </a:t>
                      </a:r>
                      <a:r>
                        <a:rPr lang="ko-KR" altLang="en-US" dirty="0" err="1"/>
                        <a:t>통제군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 err="1"/>
                        <a:t>실제값만</a:t>
                      </a:r>
                      <a:r>
                        <a:rPr lang="ko-KR" altLang="en-US" dirty="0"/>
                        <a:t> 존재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“만약 </a:t>
                      </a:r>
                      <a:r>
                        <a:rPr lang="ko-KR" altLang="en-US" dirty="0" err="1"/>
                        <a:t>응답했더라면”의</a:t>
                      </a:r>
                      <a:r>
                        <a:rPr lang="ko-KR" altLang="en-US" dirty="0"/>
                        <a:t> 결과까지 예측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8982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결과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평균적 인과효과 </a:t>
                      </a:r>
                      <a:r>
                        <a:rPr lang="en-US" altLang="ko-KR" dirty="0"/>
                        <a:t>(ATT)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개인별 효과</a:t>
                      </a:r>
                      <a:r>
                        <a:rPr lang="en-US" altLang="ko-KR" dirty="0"/>
                        <a:t>(ITE) </a:t>
                      </a:r>
                      <a:r>
                        <a:rPr lang="ko-KR" altLang="en-US" dirty="0"/>
                        <a:t>및 집단효과</a:t>
                      </a:r>
                      <a:r>
                        <a:rPr lang="en-US" altLang="ko-KR" dirty="0"/>
                        <a:t>(ATE) </a:t>
                      </a:r>
                      <a:r>
                        <a:rPr lang="ko-KR" altLang="en-US" dirty="0"/>
                        <a:t>모두 가능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873184"/>
                  </a:ext>
                </a:extLst>
              </a:tr>
            </a:tbl>
          </a:graphicData>
        </a:graphic>
      </p:graphicFrame>
      <p:sp>
        <p:nvSpPr>
          <p:cNvPr id="21" name="직사각형 20">
            <a:extLst>
              <a:ext uri="{FF2B5EF4-FFF2-40B4-BE49-F238E27FC236}">
                <a16:creationId xmlns:a16="http://schemas.microsoft.com/office/drawing/2014/main" id="{DAF3EE4C-8C61-193E-E84B-AABC8991632A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097125A-25B0-0287-412D-2DD1C5367970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A755664-28F2-95B5-72E2-0AF44997926A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4DA8A13-3CE4-8DB2-2281-55985963EA96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726D2F9-2511-F173-2C0E-376FBC6D0CB0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8381C3C-F207-400A-B47F-3FDFA03885E1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021C182-E3F9-8490-BA15-3464CFADE945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827A28C-1722-4602-AF0C-96C5EE4A1D07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B0FA74-D46D-087B-B4D3-7C1FD3EEB753}"/>
              </a:ext>
            </a:extLst>
          </p:cNvPr>
          <p:cNvSpPr txBox="1"/>
          <p:nvPr/>
        </p:nvSpPr>
        <p:spPr>
          <a:xfrm>
            <a:off x="242588" y="209592"/>
            <a:ext cx="10728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 err="1">
                <a:solidFill>
                  <a:srgbClr val="581308"/>
                </a:solidFill>
                <a:latin typeface="Agency FB" panose="020B0503020202020204" pitchFamily="34" charset="0"/>
              </a:rPr>
              <a:t>Dragonnet</a:t>
            </a:r>
            <a:endParaRPr lang="en-US" altLang="ko-KR" sz="3000" b="1" dirty="0">
              <a:solidFill>
                <a:srgbClr val="581308"/>
              </a:solidFill>
              <a:latin typeface="Agency FB" panose="020B0503020202020204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65EA915-2585-5F49-7D4E-EEB52A8C6FD0}"/>
              </a:ext>
            </a:extLst>
          </p:cNvPr>
          <p:cNvSpPr/>
          <p:nvPr/>
        </p:nvSpPr>
        <p:spPr>
          <a:xfrm>
            <a:off x="588797" y="381229"/>
            <a:ext cx="10382751" cy="91557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3200" b="1" dirty="0" err="1">
                <a:latin typeface="Agency FB" panose="020B0503020202020204" pitchFamily="34" charset="0"/>
                <a:cs typeface="times" panose="02020603050405020304" pitchFamily="18" charset="0"/>
              </a:rPr>
              <a:t>Dragonnet</a:t>
            </a:r>
            <a:r>
              <a:rPr lang="en-US" altLang="ko-KR" sz="3200" b="1" dirty="0">
                <a:latin typeface="Agency FB" panose="020B0503020202020204" pitchFamily="34" charset="0"/>
                <a:cs typeface="times" panose="02020603050405020304" pitchFamily="18" charset="0"/>
              </a:rPr>
              <a:t> </a:t>
            </a:r>
            <a:r>
              <a:rPr lang="ko-KR" altLang="en-US" sz="3200" b="1" dirty="0">
                <a:latin typeface="Agency FB" panose="020B0503020202020204" pitchFamily="34" charset="0"/>
                <a:cs typeface="times" panose="02020603050405020304" pitchFamily="18" charset="0"/>
              </a:rPr>
              <a:t>필요성</a:t>
            </a:r>
          </a:p>
        </p:txBody>
      </p:sp>
      <p:sp>
        <p:nvSpPr>
          <p:cNvPr id="6" name="Google Shape;101;p3">
            <a:extLst>
              <a:ext uri="{FF2B5EF4-FFF2-40B4-BE49-F238E27FC236}">
                <a16:creationId xmlns:a16="http://schemas.microsoft.com/office/drawing/2014/main" id="{E11951CB-35DA-F8D5-E6EC-B5A6EE53214B}"/>
              </a:ext>
            </a:extLst>
          </p:cNvPr>
          <p:cNvSpPr txBox="1"/>
          <p:nvPr/>
        </p:nvSpPr>
        <p:spPr>
          <a:xfrm>
            <a:off x="588796" y="1381054"/>
            <a:ext cx="9565467" cy="175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1) </a:t>
            </a:r>
            <a:r>
              <a:rPr lang="ko-KR" altLang="en-US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단순한 선형뿐 아니라 복잡한 곡선 구조의 설명 가능</a:t>
            </a:r>
            <a:endParaRPr lang="en-US" altLang="ko-KR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>
              <a:lnSpc>
                <a:spcPct val="110000"/>
              </a:lnSpc>
            </a:pP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</a:p>
          <a:p>
            <a:pPr lvl="0">
              <a:lnSpc>
                <a:spcPct val="110000"/>
              </a:lnSpc>
            </a:pP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여러 층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(Layer) /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비선형 활성화 함수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en-US" altLang="ko-KR" sz="16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ReLU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 /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고차원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Embedding</a:t>
            </a:r>
          </a:p>
          <a:p>
            <a:pPr lvl="0">
              <a:lnSpc>
                <a:spcPct val="110000"/>
              </a:lnSpc>
            </a:pP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을 활용하여 단순한 형태의 직선 또는 곡선이 아닌</a:t>
            </a:r>
            <a:b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개인의 이질성이 개입되어 조금 더 복잡하고</a:t>
            </a:r>
            <a:b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구불구불한 모양의 선을 그리는 관계를 학습 할 수 있음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lang="ko-KR" altLang="en-US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376614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043B1-6CCA-D5D2-43C9-11C1E286D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도표, 폰트, 라인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AF40801-0E88-B821-99B3-85E3AD5001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8418" y="4150013"/>
            <a:ext cx="7523976" cy="2674786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16D50ED2-206E-E55E-1890-ED6340CF2BE6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FF4BC3D-B43B-5E28-423C-8E3CBCCADF7F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8B20453-A096-40D2-F34F-6F73179A4FF4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5BB8D7A-9C71-3079-2912-E4190F5E00C5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25FD042-A24F-2B1D-5300-584DAD4DD806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BD31B14-43AB-D7C5-3FE0-4A5311EDC66F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642E194-5CF0-4003-0119-A9C5DBD90E06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FC5A5AB-ED2C-C34C-9929-36963A24FC3F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A9667E-39A3-2E0F-FF66-BDC4D5E96550}"/>
              </a:ext>
            </a:extLst>
          </p:cNvPr>
          <p:cNvSpPr txBox="1"/>
          <p:nvPr/>
        </p:nvSpPr>
        <p:spPr>
          <a:xfrm>
            <a:off x="242588" y="209592"/>
            <a:ext cx="10728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 err="1">
                <a:solidFill>
                  <a:srgbClr val="581308"/>
                </a:solidFill>
                <a:latin typeface="Agency FB" panose="020B0503020202020204" pitchFamily="34" charset="0"/>
              </a:rPr>
              <a:t>Dragonnet</a:t>
            </a:r>
            <a:endParaRPr lang="en-US" altLang="ko-KR" sz="3000" b="1" dirty="0">
              <a:solidFill>
                <a:srgbClr val="581308"/>
              </a:solidFill>
              <a:latin typeface="Agency FB" panose="020B0503020202020204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28FE0A7-EE7F-7B2F-8E2C-742D8740853C}"/>
              </a:ext>
            </a:extLst>
          </p:cNvPr>
          <p:cNvSpPr/>
          <p:nvPr/>
        </p:nvSpPr>
        <p:spPr>
          <a:xfrm>
            <a:off x="588797" y="381229"/>
            <a:ext cx="10382751" cy="91557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3200" b="1" dirty="0" err="1">
                <a:latin typeface="Agency FB" panose="020B0503020202020204" pitchFamily="34" charset="0"/>
                <a:cs typeface="times" panose="02020603050405020304" pitchFamily="18" charset="0"/>
              </a:rPr>
              <a:t>Dragonnet</a:t>
            </a:r>
            <a:r>
              <a:rPr lang="en-US" altLang="ko-KR" sz="3200" b="1" dirty="0">
                <a:latin typeface="Agency FB" panose="020B0503020202020204" pitchFamily="34" charset="0"/>
                <a:cs typeface="times" panose="02020603050405020304" pitchFamily="18" charset="0"/>
              </a:rPr>
              <a:t> Architecture</a:t>
            </a:r>
            <a:endParaRPr lang="ko-KR" altLang="en-US" sz="3200" b="1" dirty="0">
              <a:latin typeface="Agency FB" panose="020B0503020202020204" pitchFamily="34" charset="0"/>
              <a:cs typeface="times" panose="02020603050405020304" pitchFamily="18" charset="0"/>
            </a:endParaRPr>
          </a:p>
        </p:txBody>
      </p:sp>
      <p:sp>
        <p:nvSpPr>
          <p:cNvPr id="6" name="Google Shape;101;p3">
            <a:extLst>
              <a:ext uri="{FF2B5EF4-FFF2-40B4-BE49-F238E27FC236}">
                <a16:creationId xmlns:a16="http://schemas.microsoft.com/office/drawing/2014/main" id="{45E09CD2-3E00-7E8E-F2F7-37488DC45D03}"/>
              </a:ext>
            </a:extLst>
          </p:cNvPr>
          <p:cNvSpPr txBox="1"/>
          <p:nvPr/>
        </p:nvSpPr>
        <p:spPr>
          <a:xfrm>
            <a:off x="588796" y="1381054"/>
            <a:ext cx="9565467" cy="370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1) </a:t>
            </a:r>
            <a:r>
              <a:rPr lang="ko-KR" altLang="en-US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고객의 특성 벡터 </a:t>
            </a: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(X) </a:t>
            </a:r>
            <a:r>
              <a:rPr lang="ko-KR" altLang="en-US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</a:t>
            </a:r>
            <a:endParaRPr lang="en-US" altLang="ko-KR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>
              <a:lnSpc>
                <a:spcPct val="110000"/>
              </a:lnSpc>
            </a:pP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</a:p>
          <a:p>
            <a:pPr marL="285750" lvl="0" indent="-285750">
              <a:lnSpc>
                <a:spcPct val="110000"/>
              </a:lnSpc>
              <a:buFontTx/>
              <a:buChar char="-"/>
            </a:pP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고객의 특성에 해당하는 변수의 </a:t>
            </a:r>
            <a:r>
              <a:rPr lang="ko-KR" altLang="en-US" sz="16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입력값을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벡터로 입력</a:t>
            </a: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/>
            <a:endParaRPr lang="en-US" altLang="ko-KR" b="1" dirty="0"/>
          </a:p>
          <a:p>
            <a:pPr lvl="0"/>
            <a:r>
              <a:rPr lang="ko-KR" altLang="ko-KR" b="1" dirty="0"/>
              <a:t>성별</a:t>
            </a:r>
            <a:r>
              <a:rPr lang="en-US" altLang="ko-KR" b="1" dirty="0"/>
              <a:t>(SEX_GB)</a:t>
            </a:r>
            <a:endParaRPr lang="ko-KR" altLang="ko-KR" dirty="0"/>
          </a:p>
          <a:p>
            <a:pPr lvl="0"/>
            <a:r>
              <a:rPr lang="ko-KR" altLang="ko-KR" b="1" dirty="0"/>
              <a:t>나이</a:t>
            </a:r>
            <a:r>
              <a:rPr lang="en-US" altLang="ko-KR" b="1" dirty="0"/>
              <a:t>(AGE_GB)</a:t>
            </a:r>
            <a:endParaRPr lang="ko-KR" altLang="ko-KR" dirty="0"/>
          </a:p>
          <a:p>
            <a:pPr lvl="0"/>
            <a:r>
              <a:rPr lang="ko-KR" altLang="ko-KR" b="1" dirty="0"/>
              <a:t>기간</a:t>
            </a:r>
            <a:r>
              <a:rPr lang="en-US" altLang="ko-KR" b="1" dirty="0"/>
              <a:t>(PERIOD_M)</a:t>
            </a:r>
            <a:endParaRPr lang="ko-KR" altLang="ko-KR" dirty="0"/>
          </a:p>
          <a:p>
            <a:pPr lvl="0"/>
            <a:r>
              <a:rPr lang="ko-KR" altLang="ko-KR" b="1" dirty="0"/>
              <a:t>과거 소비</a:t>
            </a:r>
            <a:r>
              <a:rPr lang="en-US" altLang="ko-KR" b="1" dirty="0"/>
              <a:t>(USE_AMT_18Y1, AVG_12_M)</a:t>
            </a:r>
            <a:endParaRPr lang="ko-KR" altLang="ko-KR" dirty="0"/>
          </a:p>
          <a:p>
            <a:pPr lvl="0"/>
            <a:r>
              <a:rPr lang="ko-KR" altLang="ko-KR" b="1" dirty="0"/>
              <a:t>메시지 반응 이력</a:t>
            </a:r>
            <a:r>
              <a:rPr lang="en-US" altLang="ko-KR" b="1" dirty="0"/>
              <a:t>(OLI_USE_CNT)</a:t>
            </a:r>
            <a:endParaRPr lang="ko-KR" altLang="ko-KR" dirty="0"/>
          </a:p>
          <a:p>
            <a:pPr lvl="0"/>
            <a:r>
              <a:rPr lang="en-US" altLang="ko-KR" b="1" dirty="0"/>
              <a:t>MSG1~MSG5 </a:t>
            </a:r>
            <a:r>
              <a:rPr lang="ko-KR" altLang="ko-KR" b="1" dirty="0"/>
              <a:t>메시지 말단 더미</a:t>
            </a:r>
            <a:endParaRPr lang="ko-KR" altLang="ko-KR" dirty="0"/>
          </a:p>
          <a:p>
            <a:pPr lvl="0"/>
            <a:r>
              <a:rPr lang="ko-KR" altLang="ko-KR" b="1" dirty="0"/>
              <a:t>주말</a:t>
            </a:r>
            <a:r>
              <a:rPr lang="en-US" altLang="ko-KR" b="1" dirty="0"/>
              <a:t>/</a:t>
            </a:r>
            <a:r>
              <a:rPr lang="ko-KR" altLang="ko-KR" b="1" dirty="0"/>
              <a:t>평일</a:t>
            </a:r>
            <a:r>
              <a:rPr lang="en-US" altLang="ko-KR" b="1" dirty="0"/>
              <a:t>(Weekend)</a:t>
            </a:r>
            <a:endParaRPr lang="ko-KR" altLang="ko-KR" dirty="0"/>
          </a:p>
          <a:p>
            <a:pPr lvl="0"/>
            <a:r>
              <a:rPr lang="ko-KR" altLang="ko-KR" b="1" dirty="0"/>
              <a:t>반응 속도</a:t>
            </a:r>
            <a:r>
              <a:rPr lang="en-US" altLang="ko-KR" b="1" dirty="0"/>
              <a:t>(MSG_OFF_GAP)</a:t>
            </a:r>
            <a:endParaRPr lang="ko-KR" altLang="ko-KR" dirty="0"/>
          </a:p>
          <a:p>
            <a:pPr lvl="0">
              <a:lnSpc>
                <a:spcPct val="110000"/>
              </a:lnSpc>
            </a:pPr>
            <a:endParaRPr lang="ko-KR" altLang="en-US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30852FB-47CA-23C2-D8F4-D71963551AF2}"/>
              </a:ext>
            </a:extLst>
          </p:cNvPr>
          <p:cNvSpPr/>
          <p:nvPr/>
        </p:nvSpPr>
        <p:spPr>
          <a:xfrm>
            <a:off x="4834090" y="4493624"/>
            <a:ext cx="1261171" cy="1488242"/>
          </a:xfrm>
          <a:prstGeom prst="rect">
            <a:avLst/>
          </a:prstGeom>
          <a:noFill/>
          <a:ln w="57150">
            <a:solidFill>
              <a:srgbClr val="58130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1158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B6115-6877-46FF-A293-490E79933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도표, 폰트, 라인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E314730-9AF7-1D06-27ED-9BE4DAA288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8418" y="4150013"/>
            <a:ext cx="7523976" cy="2674786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A9087298-11E5-0333-DDD2-EC81CB41539A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507902B-6BCD-6A27-D172-871019796449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AD57DBD-0C00-5882-E046-030E5042638D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043BC68-77F4-F7DE-FFD7-8F0AE66B7856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1D2CAA2-D95C-8A19-AF99-B51DCA0F0A4D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58259D5-B705-549D-E1E7-5AE541D4B7D3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3DEBB05-815D-59A6-EBAC-A5E41995CF89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C1BC2B3-16AC-400B-7BB2-5EC99584FFEF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6F40B8-81E4-F7E6-4060-054F34A19ADE}"/>
              </a:ext>
            </a:extLst>
          </p:cNvPr>
          <p:cNvSpPr txBox="1"/>
          <p:nvPr/>
        </p:nvSpPr>
        <p:spPr>
          <a:xfrm>
            <a:off x="242588" y="209592"/>
            <a:ext cx="10728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 err="1">
                <a:solidFill>
                  <a:srgbClr val="581308"/>
                </a:solidFill>
                <a:latin typeface="Agency FB" panose="020B0503020202020204" pitchFamily="34" charset="0"/>
              </a:rPr>
              <a:t>Dragonnet</a:t>
            </a:r>
            <a:endParaRPr lang="en-US" altLang="ko-KR" sz="3000" b="1" dirty="0">
              <a:solidFill>
                <a:srgbClr val="581308"/>
              </a:solidFill>
              <a:latin typeface="Agency FB" panose="020B0503020202020204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417D3D6-A19B-3E5D-11D4-2D05E1387D0B}"/>
              </a:ext>
            </a:extLst>
          </p:cNvPr>
          <p:cNvSpPr/>
          <p:nvPr/>
        </p:nvSpPr>
        <p:spPr>
          <a:xfrm>
            <a:off x="588797" y="381229"/>
            <a:ext cx="10382751" cy="91557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3200" b="1" dirty="0" err="1">
                <a:latin typeface="Agency FB" panose="020B0503020202020204" pitchFamily="34" charset="0"/>
                <a:cs typeface="times" panose="02020603050405020304" pitchFamily="18" charset="0"/>
              </a:rPr>
              <a:t>Dragonnet</a:t>
            </a:r>
            <a:r>
              <a:rPr lang="en-US" altLang="ko-KR" sz="3200" b="1" dirty="0">
                <a:latin typeface="Agency FB" panose="020B0503020202020204" pitchFamily="34" charset="0"/>
                <a:cs typeface="times" panose="02020603050405020304" pitchFamily="18" charset="0"/>
              </a:rPr>
              <a:t> Architecture</a:t>
            </a:r>
            <a:endParaRPr lang="ko-KR" altLang="en-US" sz="3200" b="1" dirty="0">
              <a:latin typeface="Agency FB" panose="020B0503020202020204" pitchFamily="34" charset="0"/>
              <a:cs typeface="times" panose="02020603050405020304" pitchFamily="18" charset="0"/>
            </a:endParaRPr>
          </a:p>
        </p:txBody>
      </p:sp>
      <p:sp>
        <p:nvSpPr>
          <p:cNvPr id="6" name="Google Shape;101;p3">
            <a:extLst>
              <a:ext uri="{FF2B5EF4-FFF2-40B4-BE49-F238E27FC236}">
                <a16:creationId xmlns:a16="http://schemas.microsoft.com/office/drawing/2014/main" id="{D01601A6-BF1A-237C-1C78-ECA9F5CA7030}"/>
              </a:ext>
            </a:extLst>
          </p:cNvPr>
          <p:cNvSpPr txBox="1"/>
          <p:nvPr/>
        </p:nvSpPr>
        <p:spPr>
          <a:xfrm>
            <a:off x="588796" y="1381054"/>
            <a:ext cx="9565467" cy="554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2) Shared Layers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</a:p>
          <a:p>
            <a:pPr marL="285750" lvl="0" indent="-285750">
              <a:lnSpc>
                <a:spcPct val="110000"/>
              </a:lnSpc>
              <a:buFontTx/>
              <a:buChar char="-"/>
            </a:pP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lvl="0" indent="-285750">
              <a:lnSpc>
                <a:spcPct val="110000"/>
              </a:lnSpc>
              <a:buFontTx/>
              <a:buChar char="-"/>
            </a:pP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고객의 특성을 하나의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＂</a:t>
            </a:r>
            <a:r>
              <a:rPr lang="ko-KR" altLang="en-US" sz="16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핵섬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벡터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Z“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 만드는 과정</a:t>
            </a: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lvl="0" indent="-285750">
              <a:lnSpc>
                <a:spcPct val="110000"/>
              </a:lnSpc>
              <a:buFontTx/>
              <a:buChar char="-"/>
            </a:pP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모든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Interaction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고려된 많고 복잡한 특성의 벡터를 압축하여</a:t>
            </a:r>
            <a:b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하나의 핵심 벡터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Z (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표현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representation)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만드는 것</a:t>
            </a: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lvl="0" indent="-285750">
              <a:lnSpc>
                <a:spcPct val="110000"/>
              </a:lnSpc>
              <a:buFontTx/>
              <a:buChar char="-"/>
            </a:pP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lvl="0" indent="-285750">
              <a:lnSpc>
                <a:spcPct val="110000"/>
              </a:lnSpc>
              <a:buFontTx/>
              <a:buChar char="-"/>
            </a:pP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Z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벡터에는 다양한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Interaction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 개념이 담긴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＂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요약된 성향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담긴다</a:t>
            </a: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lvl="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고객의 주말 소비강도가 </a:t>
            </a:r>
            <a:r>
              <a:rPr lang="ko-KR" altLang="en-US" sz="16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높은지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주말여부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x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소비강도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</a:p>
          <a:p>
            <a:pPr marL="285750" lvl="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고객이 화창한 날에 올리브영에 들르는지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기온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x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방문여부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</a:p>
          <a:p>
            <a:pPr marL="285750" lvl="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lvl="0" indent="-285750">
              <a:lnSpc>
                <a:spcPct val="110000"/>
              </a:lnSpc>
              <a:buFontTx/>
              <a:buChar char="-"/>
            </a:pP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Shared Layer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 차원을 </a:t>
            </a:r>
            <a:r>
              <a:rPr lang="ko-KR" altLang="en-US" sz="16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줄여나가는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기준은</a:t>
            </a:r>
            <a:b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사람이 정해주는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＇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규칙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’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아니라</a:t>
            </a:r>
            <a:b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신경망이 직접 학습을 통해</a:t>
            </a:r>
            <a:b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최적의 조합을 기준으로 차원을 </a:t>
            </a:r>
            <a:r>
              <a:rPr lang="ko-KR" altLang="en-US" sz="16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줄여나간다</a:t>
            </a:r>
            <a:b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lvl="0" indent="-285750">
              <a:lnSpc>
                <a:spcPct val="110000"/>
              </a:lnSpc>
              <a:buFontTx/>
              <a:buChar char="-"/>
            </a:pP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>
              <a:lnSpc>
                <a:spcPct val="110000"/>
              </a:lnSpc>
            </a:pP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>
              <a:lnSpc>
                <a:spcPct val="110000"/>
              </a:lnSpc>
            </a:pP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차원을 줄이는 기준 </a:t>
            </a: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= ＂</a:t>
            </a: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예측 성능을 가장 높이는 방향</a:t>
            </a: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＂</a:t>
            </a:r>
            <a:b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>
              <a:lnSpc>
                <a:spcPct val="110000"/>
              </a:lnSpc>
            </a:pPr>
            <a:endParaRPr lang="ko-KR" altLang="en-US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CA77123-2CC7-DEA7-6DFE-3E6F25C08D2E}"/>
              </a:ext>
            </a:extLst>
          </p:cNvPr>
          <p:cNvSpPr/>
          <p:nvPr/>
        </p:nvSpPr>
        <p:spPr>
          <a:xfrm>
            <a:off x="5957497" y="4465940"/>
            <a:ext cx="1147866" cy="1488242"/>
          </a:xfrm>
          <a:prstGeom prst="rect">
            <a:avLst/>
          </a:prstGeom>
          <a:noFill/>
          <a:ln w="57150">
            <a:solidFill>
              <a:srgbClr val="58130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327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B035F-B002-47AC-940C-77B1D42E6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도표, 폰트, 라인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6E7CF56-7825-3DAE-37D9-D63C23FBB0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8418" y="4150013"/>
            <a:ext cx="7523976" cy="2674786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039C1B1B-18DE-E266-D990-F0DB3BA39A3F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B7302EB-F7FC-A8CF-B10F-45D79E97EDB6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6512212-9A6A-48C1-AEF3-E9005E1C4B75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B0DA15D-266A-47D3-BFA5-7673B1680C5A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8AB529B-F3E3-7569-C4D2-20104CE6B41C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A12DE20-F99D-5F31-9C0C-642D86C49CA4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84A296E-CE51-BF76-E7C5-AF8E311551E2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A21E602-A8FA-4BA6-B9B0-420A9693826F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297782-EE5D-F92B-B6A4-111564827955}"/>
              </a:ext>
            </a:extLst>
          </p:cNvPr>
          <p:cNvSpPr txBox="1"/>
          <p:nvPr/>
        </p:nvSpPr>
        <p:spPr>
          <a:xfrm>
            <a:off x="242588" y="209592"/>
            <a:ext cx="10728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 err="1">
                <a:solidFill>
                  <a:srgbClr val="581308"/>
                </a:solidFill>
                <a:latin typeface="Agency FB" panose="020B0503020202020204" pitchFamily="34" charset="0"/>
              </a:rPr>
              <a:t>Dragonnet</a:t>
            </a:r>
            <a:endParaRPr lang="en-US" altLang="ko-KR" sz="3000" b="1" dirty="0">
              <a:solidFill>
                <a:srgbClr val="581308"/>
              </a:solidFill>
              <a:latin typeface="Agency FB" panose="020B0503020202020204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B34FDF3-AA31-51D4-3C31-327D8537FBF3}"/>
              </a:ext>
            </a:extLst>
          </p:cNvPr>
          <p:cNvSpPr/>
          <p:nvPr/>
        </p:nvSpPr>
        <p:spPr>
          <a:xfrm>
            <a:off x="588797" y="381229"/>
            <a:ext cx="10382751" cy="91557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3200" b="1" dirty="0" err="1">
                <a:latin typeface="Agency FB" panose="020B0503020202020204" pitchFamily="34" charset="0"/>
                <a:cs typeface="times" panose="02020603050405020304" pitchFamily="18" charset="0"/>
              </a:rPr>
              <a:t>Dragonnet</a:t>
            </a:r>
            <a:r>
              <a:rPr lang="en-US" altLang="ko-KR" sz="3200" b="1" dirty="0">
                <a:latin typeface="Agency FB" panose="020B0503020202020204" pitchFamily="34" charset="0"/>
                <a:cs typeface="times" panose="02020603050405020304" pitchFamily="18" charset="0"/>
              </a:rPr>
              <a:t> Architecture</a:t>
            </a:r>
            <a:endParaRPr lang="ko-KR" altLang="en-US" sz="3200" b="1" dirty="0">
              <a:latin typeface="Agency FB" panose="020B0503020202020204" pitchFamily="34" charset="0"/>
              <a:cs typeface="times" panose="02020603050405020304" pitchFamily="18" charset="0"/>
            </a:endParaRPr>
          </a:p>
        </p:txBody>
      </p:sp>
      <p:sp>
        <p:nvSpPr>
          <p:cNvPr id="6" name="Google Shape;101;p3">
            <a:extLst>
              <a:ext uri="{FF2B5EF4-FFF2-40B4-BE49-F238E27FC236}">
                <a16:creationId xmlns:a16="http://schemas.microsoft.com/office/drawing/2014/main" id="{9D739069-2639-178F-E4A3-CEFFF8120401}"/>
              </a:ext>
            </a:extLst>
          </p:cNvPr>
          <p:cNvSpPr txBox="1"/>
          <p:nvPr/>
        </p:nvSpPr>
        <p:spPr>
          <a:xfrm>
            <a:off x="588796" y="1381054"/>
            <a:ext cx="9565467" cy="2834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3) Z </a:t>
            </a:r>
            <a:r>
              <a:rPr lang="ko-KR" altLang="en-US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벡터 </a:t>
            </a: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= </a:t>
            </a:r>
            <a:r>
              <a:rPr lang="ko-KR" altLang="en-US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특성의 </a:t>
            </a: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Embedding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</a:p>
          <a:p>
            <a:pPr marL="285750" lvl="0" indent="-285750">
              <a:lnSpc>
                <a:spcPct val="110000"/>
              </a:lnSpc>
              <a:buFontTx/>
              <a:buChar char="-"/>
            </a:pP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lvl="0" indent="-285750">
              <a:lnSpc>
                <a:spcPct val="110000"/>
              </a:lnSpc>
              <a:buFontTx/>
              <a:buChar char="-"/>
            </a:pP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Shared Layer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거쳐 차원을 축소하여</a:t>
            </a:r>
            <a:b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최종적으로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Z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벡터를 도출</a:t>
            </a: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lvl="0" indent="-285750">
              <a:lnSpc>
                <a:spcPct val="110000"/>
              </a:lnSpc>
              <a:buFontTx/>
              <a:buChar char="-"/>
            </a:pP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lvl="0" indent="-285750">
              <a:lnSpc>
                <a:spcPct val="110000"/>
              </a:lnSpc>
              <a:buFontTx/>
              <a:buChar char="-"/>
            </a:pP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Z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벡터는 </a:t>
            </a: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</a:t>
            </a: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고객의 특성을 가장 효율적으로 요약한 벡터</a:t>
            </a: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 된다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</a:p>
          <a:p>
            <a:pPr marL="285750" lvl="0" indent="-285750">
              <a:lnSpc>
                <a:spcPct val="110000"/>
              </a:lnSpc>
              <a:buFontTx/>
              <a:buChar char="-"/>
            </a:pP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lvl="0" indent="-285750">
              <a:lnSpc>
                <a:spcPct val="110000"/>
              </a:lnSpc>
              <a:buFontTx/>
              <a:buChar char="-"/>
            </a:pP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이후의 모든 예측은 이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Z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벡터를 기반으로 이루어진다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</a:p>
          <a:p>
            <a:pPr marL="285750" lvl="0" indent="-285750">
              <a:lnSpc>
                <a:spcPct val="110000"/>
              </a:lnSpc>
              <a:buFontTx/>
              <a:buChar char="-"/>
            </a:pP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보편적으로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200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개의 차원으로 구성됨</a:t>
            </a: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>
              <a:lnSpc>
                <a:spcPct val="110000"/>
              </a:lnSpc>
            </a:pPr>
            <a:endParaRPr lang="ko-KR" altLang="en-US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24AF761-EE03-C96F-656A-2584B4EB5402}"/>
              </a:ext>
            </a:extLst>
          </p:cNvPr>
          <p:cNvSpPr/>
          <p:nvPr/>
        </p:nvSpPr>
        <p:spPr>
          <a:xfrm>
            <a:off x="7145383" y="4657098"/>
            <a:ext cx="600892" cy="1204984"/>
          </a:xfrm>
          <a:prstGeom prst="rect">
            <a:avLst/>
          </a:prstGeom>
          <a:noFill/>
          <a:ln w="57150">
            <a:solidFill>
              <a:srgbClr val="58130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6400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86690-AD29-13CE-D435-0F8E144B0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도표, 폰트, 라인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64E740-4B71-1652-C7D2-9FF9EADD17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8418" y="4150013"/>
            <a:ext cx="7523976" cy="2674786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A7AF10CF-1CA7-A74E-B13D-08CD73EDE8FA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A39A9F4-B445-D54C-E4C4-0D3210EDCF04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A430502-02B5-4FA4-B1A3-073A68A60B8B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DE5F328-7ED7-900D-A01B-94339F16BAEC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629F891-ED0B-2485-0E1E-906A1E138908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02C5E50-1BF1-1587-111F-4B06BAEB644F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ED96AB6-C29A-D6C0-C2EB-D9EA986DF392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01D8642-67B3-1AC6-58ED-837C2AEBB448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ED216A-3DD3-7EC0-4DA4-93DF6C3E6C29}"/>
              </a:ext>
            </a:extLst>
          </p:cNvPr>
          <p:cNvSpPr txBox="1"/>
          <p:nvPr/>
        </p:nvSpPr>
        <p:spPr>
          <a:xfrm>
            <a:off x="242588" y="209592"/>
            <a:ext cx="10728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 err="1">
                <a:solidFill>
                  <a:srgbClr val="581308"/>
                </a:solidFill>
                <a:latin typeface="Agency FB" panose="020B0503020202020204" pitchFamily="34" charset="0"/>
              </a:rPr>
              <a:t>Dragonnet</a:t>
            </a:r>
            <a:endParaRPr lang="en-US" altLang="ko-KR" sz="3000" b="1" dirty="0">
              <a:solidFill>
                <a:srgbClr val="581308"/>
              </a:solidFill>
              <a:latin typeface="Agency FB" panose="020B0503020202020204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B418A31-740F-55D3-468C-1A8F813C90C8}"/>
              </a:ext>
            </a:extLst>
          </p:cNvPr>
          <p:cNvSpPr/>
          <p:nvPr/>
        </p:nvSpPr>
        <p:spPr>
          <a:xfrm>
            <a:off x="588797" y="381229"/>
            <a:ext cx="10382751" cy="91557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3200" b="1" dirty="0" err="1">
                <a:latin typeface="Agency FB" panose="020B0503020202020204" pitchFamily="34" charset="0"/>
                <a:cs typeface="times" panose="02020603050405020304" pitchFamily="18" charset="0"/>
              </a:rPr>
              <a:t>Dragonnet</a:t>
            </a:r>
            <a:r>
              <a:rPr lang="en-US" altLang="ko-KR" sz="3200" b="1" dirty="0">
                <a:latin typeface="Agency FB" panose="020B0503020202020204" pitchFamily="34" charset="0"/>
                <a:cs typeface="times" panose="02020603050405020304" pitchFamily="18" charset="0"/>
              </a:rPr>
              <a:t> Architecture</a:t>
            </a:r>
            <a:endParaRPr lang="ko-KR" altLang="en-US" sz="3200" b="1" dirty="0">
              <a:latin typeface="Agency FB" panose="020B0503020202020204" pitchFamily="34" charset="0"/>
              <a:cs typeface="times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Google Shape;101;p3">
                <a:extLst>
                  <a:ext uri="{FF2B5EF4-FFF2-40B4-BE49-F238E27FC236}">
                    <a16:creationId xmlns:a16="http://schemas.microsoft.com/office/drawing/2014/main" id="{618CFE9D-CD5F-9CEB-4A7D-8AFB645C6F61}"/>
                  </a:ext>
                </a:extLst>
              </p:cNvPr>
              <p:cNvSpPr txBox="1"/>
              <p:nvPr/>
            </p:nvSpPr>
            <p:spPr>
              <a:xfrm>
                <a:off x="588796" y="1381054"/>
                <a:ext cx="9565467" cy="3192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R="0" lvl="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ko-KR" b="1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3) 3</a:t>
                </a:r>
                <a:r>
                  <a:rPr lang="ko-KR" altLang="en-US" b="1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개의 분기점</a:t>
                </a:r>
                <a:endPara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285750" lvl="0" indent="-285750">
                  <a:lnSpc>
                    <a:spcPct val="110000"/>
                  </a:lnSpc>
                  <a:buFontTx/>
                  <a:buChar char="-"/>
                </a:pP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Z</a:t>
                </a: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벡터가 도출 된 이후 </a:t>
                </a:r>
                <a:r>
                  <a:rPr lang="en-US" altLang="ko-KR" sz="1600" dirty="0" err="1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DragonNet</a:t>
                </a: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</a:t>
                </a: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에서는 세개의 출력을 동시에 학습하게 됨</a:t>
                </a:r>
                <a:endPara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285750" lvl="0" indent="-285750">
                  <a:lnSpc>
                    <a:spcPct val="110000"/>
                  </a:lnSpc>
                  <a:buFontTx/>
                  <a:buChar char="-"/>
                </a:pPr>
                <a:endPara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285750" lvl="0" indent="-285750">
                  <a:lnSpc>
                    <a:spcPct val="110000"/>
                  </a:lnSpc>
                  <a:buFontTx/>
                  <a:buChar char="-"/>
                </a:pP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3-1)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ko-KR" altLang="en-US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ko-KR" altLang="en-US" sz="20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- Branch: </a:t>
                </a: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이 고객이 쿠폰을 담으면 얼마나 쓸까</a:t>
                </a: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? </a:t>
                </a: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를 예측하는 가지</a:t>
                </a:r>
                <a:b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b="1" i="1"/>
                        </m:ctrlPr>
                      </m:sSubPr>
                      <m:e>
                        <m:r>
                          <a:rPr lang="en-US" altLang="ko-KR" b="1" i="1"/>
                          <m:t>𝒚</m:t>
                        </m:r>
                      </m:e>
                      <m:sub>
                        <m:r>
                          <a:rPr lang="en-US" altLang="ko-KR" b="1" i="1"/>
                          <m:t>𝟏</m:t>
                        </m:r>
                      </m:sub>
                    </m:sSub>
                    <m:d>
                      <m:dPr>
                        <m:ctrlPr>
                          <a:rPr lang="ko-KR" altLang="ko-KR" b="1" i="1"/>
                        </m:ctrlPr>
                      </m:dPr>
                      <m:e>
                        <m:r>
                          <a:rPr lang="en-US" altLang="ko-KR" b="1" i="1"/>
                          <m:t>𝒙</m:t>
                        </m:r>
                      </m:e>
                    </m:d>
                  </m:oMath>
                </a14:m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: </a:t>
                </a: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이 고객이 쿠폰을 담았을 때 예상되는 소비금액을 계산하는</a:t>
                </a:r>
                <a:b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                                                                  </a:t>
                </a: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신경망 </a:t>
                </a: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y1-branch </a:t>
                </a: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로 진입하게 된다</a:t>
                </a: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.</a:t>
                </a:r>
              </a:p>
              <a:p>
                <a:pPr marL="285750" lvl="0" indent="-285750">
                  <a:lnSpc>
                    <a:spcPct val="110000"/>
                  </a:lnSpc>
                  <a:buFontTx/>
                  <a:buChar char="-"/>
                </a:pPr>
                <a:endPara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285750" lvl="0" indent="-285750">
                  <a:lnSpc>
                    <a:spcPct val="110000"/>
                  </a:lnSpc>
                  <a:buFontTx/>
                  <a:buChar char="-"/>
                </a:pP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이 신경망은 과거 데이터를 통해 배운다</a:t>
                </a: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.</a:t>
                </a:r>
                <a:b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endPara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285750" lvl="0" indent="-285750">
                  <a:lnSpc>
                    <a:spcPct val="110000"/>
                  </a:lnSpc>
                  <a:buFontTx/>
                  <a:buChar char="-"/>
                </a:pP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“</a:t>
                </a: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이러한 특성</a:t>
                </a: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(</a:t>
                </a: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벡터</a:t>
                </a: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) </a:t>
                </a: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를 지닌 사람들은 </a:t>
                </a:r>
                <a:b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메시지를 받으면 평균 </a:t>
                </a: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OO</a:t>
                </a: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원을 쓰더라</a:t>
                </a: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”</a:t>
                </a:r>
                <a:endParaRPr lang="ko-KR" altLang="en-US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mc:Choice>
        <mc:Fallback>
          <p:sp>
            <p:nvSpPr>
              <p:cNvPr id="6" name="Google Shape;101;p3">
                <a:extLst>
                  <a:ext uri="{FF2B5EF4-FFF2-40B4-BE49-F238E27FC236}">
                    <a16:creationId xmlns:a16="http://schemas.microsoft.com/office/drawing/2014/main" id="{618CFE9D-CD5F-9CEB-4A7D-8AFB645C6F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796" y="1381054"/>
                <a:ext cx="9565467" cy="3192180"/>
              </a:xfrm>
              <a:prstGeom prst="rect">
                <a:avLst/>
              </a:prstGeom>
              <a:blipFill>
                <a:blip r:embed="rId4"/>
                <a:stretch>
                  <a:fillRect l="-574" t="-1147" b="-95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직사각형 8">
            <a:extLst>
              <a:ext uri="{FF2B5EF4-FFF2-40B4-BE49-F238E27FC236}">
                <a16:creationId xmlns:a16="http://schemas.microsoft.com/office/drawing/2014/main" id="{06E9DF82-3E81-2E8D-D7E7-0E72F8AC1826}"/>
              </a:ext>
            </a:extLst>
          </p:cNvPr>
          <p:cNvSpPr/>
          <p:nvPr/>
        </p:nvSpPr>
        <p:spPr>
          <a:xfrm>
            <a:off x="7733211" y="4065760"/>
            <a:ext cx="4214828" cy="820940"/>
          </a:xfrm>
          <a:prstGeom prst="rect">
            <a:avLst/>
          </a:prstGeom>
          <a:noFill/>
          <a:ln w="57150">
            <a:solidFill>
              <a:srgbClr val="58130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DFC4137-1A5D-2A44-5909-D03CDF1FC1E2}"/>
                  </a:ext>
                </a:extLst>
              </p:cNvPr>
              <p:cNvSpPr txBox="1"/>
              <p:nvPr/>
            </p:nvSpPr>
            <p:spPr>
              <a:xfrm>
                <a:off x="11490839" y="4087910"/>
                <a:ext cx="4572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ko-KR" altLang="en-US" sz="20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  <m:sub>
                          <m:r>
                            <a:rPr lang="ko-KR" altLang="en-US" sz="2000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DFC4137-1A5D-2A44-5909-D03CDF1FC1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0839" y="4087910"/>
                <a:ext cx="457200" cy="400110"/>
              </a:xfrm>
              <a:prstGeom prst="rect">
                <a:avLst/>
              </a:prstGeom>
              <a:blipFill>
                <a:blip r:embed="rId5"/>
                <a:stretch>
                  <a:fillRect l="-1333" t="-4615" r="-2667" b="-123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8B722B8-A858-0222-6C77-F9A1F301E744}"/>
                  </a:ext>
                </a:extLst>
              </p:cNvPr>
              <p:cNvSpPr txBox="1"/>
              <p:nvPr/>
            </p:nvSpPr>
            <p:spPr>
              <a:xfrm>
                <a:off x="11461864" y="5921795"/>
                <a:ext cx="69053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ko-KR" altLang="en-US" sz="20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  <m:sub>
                          <m:r>
                            <a:rPr lang="ko-KR" altLang="en-US" sz="2000" b="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8B722B8-A858-0222-6C77-F9A1F301E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1864" y="5921795"/>
                <a:ext cx="690530" cy="400110"/>
              </a:xfrm>
              <a:prstGeom prst="rect">
                <a:avLst/>
              </a:prstGeom>
              <a:blipFill>
                <a:blip r:embed="rId6"/>
                <a:stretch>
                  <a:fillRect t="-4545" r="-17544" b="-106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4458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11CAC-5928-3864-A200-C0D21EC58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도표, 폰트, 라인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92E684-0362-B707-B62F-FBA142282F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8418" y="4150013"/>
            <a:ext cx="7523976" cy="2674786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5BC5EB07-6A0D-C3B0-5B9B-20115C134D3F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E0F61A6-3012-C5E5-400A-2C414A961BFE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9110462-150F-84B4-7027-8423A37B8AAE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7D2DB00-2305-4E9D-D83D-2BEAB21E1028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1A05714-7AD7-A9F4-D838-60BD525D3C43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E6B0E33-9274-9AD0-62A0-7F7EFA1DBC99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ECC4672-7201-B034-251C-666E25AC0371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0E5F322-3237-F6A8-AEEA-AA1FD2388360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BE5183-539E-F90F-9993-10FB7AACDAC5}"/>
              </a:ext>
            </a:extLst>
          </p:cNvPr>
          <p:cNvSpPr txBox="1"/>
          <p:nvPr/>
        </p:nvSpPr>
        <p:spPr>
          <a:xfrm>
            <a:off x="242588" y="209592"/>
            <a:ext cx="10728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 err="1">
                <a:solidFill>
                  <a:srgbClr val="581308"/>
                </a:solidFill>
                <a:latin typeface="Agency FB" panose="020B0503020202020204" pitchFamily="34" charset="0"/>
              </a:rPr>
              <a:t>Dragonnet</a:t>
            </a:r>
            <a:endParaRPr lang="en-US" altLang="ko-KR" sz="3000" b="1" dirty="0">
              <a:solidFill>
                <a:srgbClr val="581308"/>
              </a:solidFill>
              <a:latin typeface="Agency FB" panose="020B0503020202020204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CD2D179-AA0B-A0C9-0FE5-A51B5EBEC758}"/>
              </a:ext>
            </a:extLst>
          </p:cNvPr>
          <p:cNvSpPr/>
          <p:nvPr/>
        </p:nvSpPr>
        <p:spPr>
          <a:xfrm>
            <a:off x="588797" y="381229"/>
            <a:ext cx="10382751" cy="91557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3200" b="1" dirty="0" err="1">
                <a:latin typeface="Agency FB" panose="020B0503020202020204" pitchFamily="34" charset="0"/>
                <a:cs typeface="times" panose="02020603050405020304" pitchFamily="18" charset="0"/>
              </a:rPr>
              <a:t>Dragonnet</a:t>
            </a:r>
            <a:r>
              <a:rPr lang="en-US" altLang="ko-KR" sz="3200" b="1" dirty="0">
                <a:latin typeface="Agency FB" panose="020B0503020202020204" pitchFamily="34" charset="0"/>
                <a:cs typeface="times" panose="02020603050405020304" pitchFamily="18" charset="0"/>
              </a:rPr>
              <a:t> Architecture</a:t>
            </a:r>
            <a:endParaRPr lang="ko-KR" altLang="en-US" sz="3200" b="1" dirty="0">
              <a:latin typeface="Agency FB" panose="020B0503020202020204" pitchFamily="34" charset="0"/>
              <a:cs typeface="times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Google Shape;101;p3">
                <a:extLst>
                  <a:ext uri="{FF2B5EF4-FFF2-40B4-BE49-F238E27FC236}">
                    <a16:creationId xmlns:a16="http://schemas.microsoft.com/office/drawing/2014/main" id="{57589295-01E6-F60B-9B3C-7C09515CAD98}"/>
                  </a:ext>
                </a:extLst>
              </p:cNvPr>
              <p:cNvSpPr txBox="1"/>
              <p:nvPr/>
            </p:nvSpPr>
            <p:spPr>
              <a:xfrm>
                <a:off x="588796" y="1381054"/>
                <a:ext cx="9565467" cy="3192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R="0" lvl="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ko-KR" b="1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3) 3</a:t>
                </a:r>
                <a:r>
                  <a:rPr lang="ko-KR" altLang="en-US" b="1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개의 분기점</a:t>
                </a:r>
                <a:endPara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285750" lvl="0" indent="-285750">
                  <a:lnSpc>
                    <a:spcPct val="110000"/>
                  </a:lnSpc>
                  <a:buFontTx/>
                  <a:buChar char="-"/>
                </a:pP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Z</a:t>
                </a: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벡터가 도출 된 이후 </a:t>
                </a:r>
                <a:r>
                  <a:rPr lang="en-US" altLang="ko-KR" sz="1600" dirty="0" err="1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DragonNet</a:t>
                </a: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</a:t>
                </a: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에서는 세개의 출력을 동시에 학습하게 됨</a:t>
                </a:r>
                <a:endPara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285750" lvl="0" indent="-285750">
                  <a:lnSpc>
                    <a:spcPct val="110000"/>
                  </a:lnSpc>
                  <a:buFontTx/>
                  <a:buChar char="-"/>
                </a:pPr>
                <a:endPara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285750" lvl="0" indent="-285750">
                  <a:lnSpc>
                    <a:spcPct val="110000"/>
                  </a:lnSpc>
                  <a:buFontTx/>
                  <a:buChar char="-"/>
                </a:pP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3-2)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altLang="ko-KR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ko-KR" altLang="en-US" sz="20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-Branch: </a:t>
                </a: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이 고객이 쿠폰을 담지 않았다면 얼마나 쓸까</a:t>
                </a: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? </a:t>
                </a: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를 예측하는 가지</a:t>
                </a:r>
                <a:b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b="1" i="1"/>
                        </m:ctrlPr>
                      </m:sSubPr>
                      <m:e>
                        <m:r>
                          <a:rPr lang="en-US" altLang="ko-KR" b="1" i="1"/>
                          <m:t>𝒚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ko-KR" altLang="ko-KR" b="1" i="1"/>
                        </m:ctrlPr>
                      </m:dPr>
                      <m:e>
                        <m:r>
                          <a:rPr lang="en-US" altLang="ko-KR" b="1" i="1"/>
                          <m:t>𝒙</m:t>
                        </m:r>
                      </m:e>
                    </m:d>
                  </m:oMath>
                </a14:m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: </a:t>
                </a: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이 고객이 쿠폰을 담지 않았을 때 예상되는 소비금액을 계산하는</a:t>
                </a:r>
                <a:b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               </a:t>
                </a: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                                                         신경망 </a:t>
                </a: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y2-branch </a:t>
                </a: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로 진입하게 된다</a:t>
                </a: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.</a:t>
                </a:r>
              </a:p>
              <a:p>
                <a:pPr marL="285750" lvl="0" indent="-285750">
                  <a:lnSpc>
                    <a:spcPct val="110000"/>
                  </a:lnSpc>
                  <a:buFontTx/>
                  <a:buChar char="-"/>
                </a:pPr>
                <a:endPara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285750" lvl="0" indent="-285750">
                  <a:lnSpc>
                    <a:spcPct val="110000"/>
                  </a:lnSpc>
                  <a:buFontTx/>
                  <a:buChar char="-"/>
                </a:pP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이 신경망은 과거 데이터를 통해 배운다</a:t>
                </a: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.</a:t>
                </a:r>
                <a:b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endPara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285750" lvl="0" indent="-285750">
                  <a:lnSpc>
                    <a:spcPct val="110000"/>
                  </a:lnSpc>
                  <a:buFontTx/>
                  <a:buChar char="-"/>
                </a:pP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“</a:t>
                </a: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이러한 특성</a:t>
                </a: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(</a:t>
                </a: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벡터</a:t>
                </a: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) </a:t>
                </a: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를 지닌 사람들은 </a:t>
                </a:r>
                <a:b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메시지를 받지 않으면 평균 </a:t>
                </a: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OO</a:t>
                </a: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원을 쓰더라</a:t>
                </a: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”</a:t>
                </a:r>
                <a:endParaRPr lang="ko-KR" altLang="en-US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mc:Choice>
        <mc:Fallback>
          <p:sp>
            <p:nvSpPr>
              <p:cNvPr id="6" name="Google Shape;101;p3">
                <a:extLst>
                  <a:ext uri="{FF2B5EF4-FFF2-40B4-BE49-F238E27FC236}">
                    <a16:creationId xmlns:a16="http://schemas.microsoft.com/office/drawing/2014/main" id="{57589295-01E6-F60B-9B3C-7C09515CAD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796" y="1381054"/>
                <a:ext cx="9565467" cy="3192180"/>
              </a:xfrm>
              <a:prstGeom prst="rect">
                <a:avLst/>
              </a:prstGeom>
              <a:blipFill>
                <a:blip r:embed="rId4"/>
                <a:stretch>
                  <a:fillRect l="-574" t="-1147" b="-95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직사각형 8">
            <a:extLst>
              <a:ext uri="{FF2B5EF4-FFF2-40B4-BE49-F238E27FC236}">
                <a16:creationId xmlns:a16="http://schemas.microsoft.com/office/drawing/2014/main" id="{E3A63486-F498-2326-2CA3-82C4B33C8525}"/>
              </a:ext>
            </a:extLst>
          </p:cNvPr>
          <p:cNvSpPr/>
          <p:nvPr/>
        </p:nvSpPr>
        <p:spPr>
          <a:xfrm>
            <a:off x="7733211" y="5590902"/>
            <a:ext cx="4339972" cy="718457"/>
          </a:xfrm>
          <a:prstGeom prst="rect">
            <a:avLst/>
          </a:prstGeom>
          <a:noFill/>
          <a:ln w="57150">
            <a:solidFill>
              <a:srgbClr val="58130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4648B28-67E6-48FF-7AD5-8EA57C590900}"/>
                  </a:ext>
                </a:extLst>
              </p:cNvPr>
              <p:cNvSpPr txBox="1"/>
              <p:nvPr/>
            </p:nvSpPr>
            <p:spPr>
              <a:xfrm>
                <a:off x="11490839" y="4087910"/>
                <a:ext cx="4572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ko-KR" altLang="en-US" sz="20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  <m:sub>
                          <m:r>
                            <a:rPr lang="ko-KR" altLang="en-US" sz="2000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4648B28-67E6-48FF-7AD5-8EA57C5909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0839" y="4087910"/>
                <a:ext cx="457200" cy="400110"/>
              </a:xfrm>
              <a:prstGeom prst="rect">
                <a:avLst/>
              </a:prstGeom>
              <a:blipFill>
                <a:blip r:embed="rId5"/>
                <a:stretch>
                  <a:fillRect l="-1333" t="-4615" r="-2667" b="-123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5F75BDC-082B-B4AC-6DD7-4C4BD8E617E4}"/>
                  </a:ext>
                </a:extLst>
              </p:cNvPr>
              <p:cNvSpPr txBox="1"/>
              <p:nvPr/>
            </p:nvSpPr>
            <p:spPr>
              <a:xfrm>
                <a:off x="11461864" y="5921795"/>
                <a:ext cx="69053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ko-KR" altLang="en-US" sz="20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  <m:sub>
                          <m:r>
                            <a:rPr lang="ko-KR" altLang="en-US" sz="2000" b="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5F75BDC-082B-B4AC-6DD7-4C4BD8E61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1864" y="5921795"/>
                <a:ext cx="690530" cy="400110"/>
              </a:xfrm>
              <a:prstGeom prst="rect">
                <a:avLst/>
              </a:prstGeom>
              <a:blipFill>
                <a:blip r:embed="rId6"/>
                <a:stretch>
                  <a:fillRect t="-4545" r="-17544" b="-106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0596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CA7AB-AAD7-16D5-3FE7-D0DE84FAF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도표, 폰트, 라인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39DDE9F-6F06-7045-C216-29CE25D072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8418" y="4150013"/>
            <a:ext cx="7523976" cy="2674786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780253CB-7506-71DC-7BD9-0DBB865B477F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E794F2D-6506-4F07-F759-8CFB85CB5DC8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7FF814B-15A3-5FBF-51D9-E9448A4EAC6B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5406F9C-5A1D-D7DF-6962-254894AF6680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75B499C-80F5-1A3B-AA05-7F4A46A1B697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E000A6B-9A28-0836-13A1-3709A7A328BC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1EAC4DA-C017-7890-95A0-09C553A590EF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9111DCF-921B-35CF-DB15-5FFBFABC94B4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E16303-C9E9-54FC-3421-500468E06350}"/>
              </a:ext>
            </a:extLst>
          </p:cNvPr>
          <p:cNvSpPr txBox="1"/>
          <p:nvPr/>
        </p:nvSpPr>
        <p:spPr>
          <a:xfrm>
            <a:off x="242588" y="209592"/>
            <a:ext cx="10728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 err="1">
                <a:solidFill>
                  <a:srgbClr val="581308"/>
                </a:solidFill>
                <a:latin typeface="Agency FB" panose="020B0503020202020204" pitchFamily="34" charset="0"/>
              </a:rPr>
              <a:t>Dragonnet</a:t>
            </a:r>
            <a:endParaRPr lang="en-US" altLang="ko-KR" sz="3000" b="1" dirty="0">
              <a:solidFill>
                <a:srgbClr val="581308"/>
              </a:solidFill>
              <a:latin typeface="Agency FB" panose="020B0503020202020204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1D6C2AD-D7C1-AE3C-C1EA-C8E76557129B}"/>
              </a:ext>
            </a:extLst>
          </p:cNvPr>
          <p:cNvSpPr/>
          <p:nvPr/>
        </p:nvSpPr>
        <p:spPr>
          <a:xfrm>
            <a:off x="588797" y="381229"/>
            <a:ext cx="10382751" cy="91557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3200" b="1" dirty="0" err="1">
                <a:latin typeface="Agency FB" panose="020B0503020202020204" pitchFamily="34" charset="0"/>
                <a:cs typeface="times" panose="02020603050405020304" pitchFamily="18" charset="0"/>
              </a:rPr>
              <a:t>Dragonnet</a:t>
            </a:r>
            <a:r>
              <a:rPr lang="en-US" altLang="ko-KR" sz="3200" b="1" dirty="0">
                <a:latin typeface="Agency FB" panose="020B0503020202020204" pitchFamily="34" charset="0"/>
                <a:cs typeface="times" panose="02020603050405020304" pitchFamily="18" charset="0"/>
              </a:rPr>
              <a:t> Architecture</a:t>
            </a:r>
            <a:endParaRPr lang="ko-KR" altLang="en-US" sz="3200" b="1" dirty="0">
              <a:latin typeface="Agency FB" panose="020B0503020202020204" pitchFamily="34" charset="0"/>
              <a:cs typeface="times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Google Shape;101;p3">
                <a:extLst>
                  <a:ext uri="{FF2B5EF4-FFF2-40B4-BE49-F238E27FC236}">
                    <a16:creationId xmlns:a16="http://schemas.microsoft.com/office/drawing/2014/main" id="{CE2422DD-7FA9-8AD1-71D7-7B8003959DB3}"/>
                  </a:ext>
                </a:extLst>
              </p:cNvPr>
              <p:cNvSpPr txBox="1"/>
              <p:nvPr/>
            </p:nvSpPr>
            <p:spPr>
              <a:xfrm>
                <a:off x="588796" y="1381054"/>
                <a:ext cx="9565467" cy="39778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R="0" lvl="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ko-KR" b="1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3) 3</a:t>
                </a:r>
                <a:r>
                  <a:rPr lang="ko-KR" altLang="en-US" b="1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개의 분기점</a:t>
                </a:r>
                <a:endPara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285750" lvl="0" indent="-285750">
                  <a:lnSpc>
                    <a:spcPct val="110000"/>
                  </a:lnSpc>
                  <a:buFontTx/>
                  <a:buChar char="-"/>
                </a:pP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Z</a:t>
                </a: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벡터가 도출 된 이후 </a:t>
                </a:r>
                <a:r>
                  <a:rPr lang="en-US" altLang="ko-KR" sz="1600" dirty="0" err="1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DragonNet</a:t>
                </a: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</a:t>
                </a: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에서는 세개의 출력을 동시에 학습하게 됨</a:t>
                </a:r>
                <a:endPara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285750" lvl="0" indent="-285750">
                  <a:lnSpc>
                    <a:spcPct val="110000"/>
                  </a:lnSpc>
                  <a:buFontTx/>
                  <a:buChar char="-"/>
                </a:pPr>
                <a:endPara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285750" lvl="0" indent="-285750">
                  <a:lnSpc>
                    <a:spcPct val="110000"/>
                  </a:lnSpc>
                  <a:buFontTx/>
                  <a:buChar char="-"/>
                </a:pP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3-3)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  <m:t>𝒈</m:t>
                            </m:r>
                          </m:e>
                        </m:acc>
                      </m:e>
                      <m:sub/>
                    </m:sSub>
                    <m:r>
                      <a:rPr lang="ko-KR" altLang="en-US" sz="20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-Branch: </a:t>
                </a: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이 고객이 </a:t>
                </a: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“</a:t>
                </a:r>
                <a:r>
                  <a:rPr lang="ko-KR" altLang="en-US" sz="1600" dirty="0" err="1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오퍼를</a:t>
                </a: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담을</a:t>
                </a: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</a:t>
                </a: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확률</a:t>
                </a: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”</a:t>
                </a: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이 얼마나 되는가</a:t>
                </a: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?</a:t>
                </a:r>
                <a:b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     </a:t>
                </a:r>
              </a:p>
              <a:p>
                <a:pPr marL="285750" lvl="0" indent="-285750">
                  <a:lnSpc>
                    <a:spcPct val="110000"/>
                  </a:lnSpc>
                  <a:buFontTx/>
                  <a:buChar char="-"/>
                </a:pPr>
                <a:endPara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285750" lvl="0" indent="-285750">
                  <a:lnSpc>
                    <a:spcPct val="110000"/>
                  </a:lnSpc>
                  <a:buFontTx/>
                  <a:buChar char="-"/>
                </a:pP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이 신경망은 과거 데이터를 통해 배운다</a:t>
                </a: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.</a:t>
                </a:r>
                <a:b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endPara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285750" lvl="0" indent="-285750">
                  <a:lnSpc>
                    <a:spcPct val="110000"/>
                  </a:lnSpc>
                  <a:buFontTx/>
                  <a:buChar char="-"/>
                </a:pP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“</a:t>
                </a: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이러한 특성</a:t>
                </a: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(</a:t>
                </a: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벡터</a:t>
                </a: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) </a:t>
                </a: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를 지닌 사람들은 </a:t>
                </a:r>
                <a:b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ko-KR" altLang="en-US" sz="1600" dirty="0" err="1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오퍼를</a:t>
                </a: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담을 확률이 </a:t>
                </a: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OO </a:t>
                </a: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정도 되더라</a:t>
                </a: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”</a:t>
                </a:r>
              </a:p>
              <a:p>
                <a:pPr marL="285750" lvl="0" indent="-285750">
                  <a:lnSpc>
                    <a:spcPct val="110000"/>
                  </a:lnSpc>
                  <a:buFontTx/>
                  <a:buChar char="-"/>
                </a:pPr>
                <a:endPara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285750" lvl="0" indent="-285750">
                  <a:lnSpc>
                    <a:spcPct val="110000"/>
                  </a:lnSpc>
                  <a:buFontTx/>
                  <a:buChar char="-"/>
                </a:pP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한 고객의 데이터가</a:t>
                </a:r>
                <a:b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3</a:t>
                </a: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개의 분기점을 지나며 최종적으로</a:t>
                </a:r>
                <a:b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3</a:t>
                </a: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개의 </a:t>
                </a:r>
                <a:r>
                  <a:rPr lang="ko-KR" altLang="en-US" sz="1600" dirty="0" err="1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출력값을</a:t>
                </a: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확보하게 됨</a:t>
                </a:r>
              </a:p>
            </p:txBody>
          </p:sp>
        </mc:Choice>
        <mc:Fallback>
          <p:sp>
            <p:nvSpPr>
              <p:cNvPr id="6" name="Google Shape;101;p3">
                <a:extLst>
                  <a:ext uri="{FF2B5EF4-FFF2-40B4-BE49-F238E27FC236}">
                    <a16:creationId xmlns:a16="http://schemas.microsoft.com/office/drawing/2014/main" id="{CE2422DD-7FA9-8AD1-71D7-7B8003959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796" y="1381054"/>
                <a:ext cx="9565467" cy="3977843"/>
              </a:xfrm>
              <a:prstGeom prst="rect">
                <a:avLst/>
              </a:prstGeom>
              <a:blipFill>
                <a:blip r:embed="rId4"/>
                <a:stretch>
                  <a:fillRect l="-574" t="-920" b="-46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직사각형 8">
            <a:extLst>
              <a:ext uri="{FF2B5EF4-FFF2-40B4-BE49-F238E27FC236}">
                <a16:creationId xmlns:a16="http://schemas.microsoft.com/office/drawing/2014/main" id="{BA4AD7D8-9613-6A03-56E7-2185C8715C24}"/>
              </a:ext>
            </a:extLst>
          </p:cNvPr>
          <p:cNvSpPr/>
          <p:nvPr/>
        </p:nvSpPr>
        <p:spPr>
          <a:xfrm>
            <a:off x="7733211" y="4833256"/>
            <a:ext cx="2341841" cy="718457"/>
          </a:xfrm>
          <a:prstGeom prst="rect">
            <a:avLst/>
          </a:prstGeom>
          <a:noFill/>
          <a:ln w="57150">
            <a:solidFill>
              <a:srgbClr val="58130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97B4ED-FE12-45D7-C6D7-E4D4FABA13FD}"/>
                  </a:ext>
                </a:extLst>
              </p:cNvPr>
              <p:cNvSpPr txBox="1"/>
              <p:nvPr/>
            </p:nvSpPr>
            <p:spPr>
              <a:xfrm>
                <a:off x="11490839" y="4087910"/>
                <a:ext cx="4572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ko-KR" altLang="en-US" sz="20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  <m:sub>
                          <m:r>
                            <a:rPr lang="ko-KR" altLang="en-US" sz="2000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97B4ED-FE12-45D7-C6D7-E4D4FABA13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0839" y="4087910"/>
                <a:ext cx="457200" cy="400110"/>
              </a:xfrm>
              <a:prstGeom prst="rect">
                <a:avLst/>
              </a:prstGeom>
              <a:blipFill>
                <a:blip r:embed="rId5"/>
                <a:stretch>
                  <a:fillRect l="-1333" t="-4615" r="-2667" b="-123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53E48AF-A63F-B2E9-6E12-7E973258E626}"/>
                  </a:ext>
                </a:extLst>
              </p:cNvPr>
              <p:cNvSpPr txBox="1"/>
              <p:nvPr/>
            </p:nvSpPr>
            <p:spPr>
              <a:xfrm>
                <a:off x="11461864" y="5921795"/>
                <a:ext cx="69053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ko-KR" altLang="en-US" sz="20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  <m:sub>
                          <m:r>
                            <a:rPr lang="ko-KR" altLang="en-US" sz="2000" b="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53E48AF-A63F-B2E9-6E12-7E973258E6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1864" y="5921795"/>
                <a:ext cx="690530" cy="400110"/>
              </a:xfrm>
              <a:prstGeom prst="rect">
                <a:avLst/>
              </a:prstGeom>
              <a:blipFill>
                <a:blip r:embed="rId6"/>
                <a:stretch>
                  <a:fillRect t="-4545" r="-17544" b="-106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C555AED2-2021-9DB3-5DD6-CB5A1B696B75}"/>
              </a:ext>
            </a:extLst>
          </p:cNvPr>
          <p:cNvSpPr txBox="1"/>
          <p:nvPr/>
        </p:nvSpPr>
        <p:spPr>
          <a:xfrm>
            <a:off x="411686" y="5660185"/>
            <a:ext cx="61134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ko-KR" sz="1800" b="1" kern="1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y1(X) : </a:t>
            </a:r>
            <a:r>
              <a:rPr lang="ko-KR" altLang="en-US" sz="1800" kern="1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쿠폰을 담았다면 예상되는 소비금액</a:t>
            </a:r>
            <a:br>
              <a:rPr lang="en-US" altLang="ko-KR" sz="1800" b="1" kern="1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</a:br>
            <a:r>
              <a:rPr lang="en-US" altLang="ko-KR" sz="1800" b="1" kern="1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y0(X) : </a:t>
            </a:r>
            <a:r>
              <a:rPr lang="ko-KR" altLang="en-US" kern="100" dirty="0">
                <a:latin typeface="Segoe UI Emoji" panose="020B0502040204020203" pitchFamily="34" charset="0"/>
                <a:cs typeface="Segoe UI Emoji" panose="020B0502040204020203" pitchFamily="34" charset="0"/>
              </a:rPr>
              <a:t>쿠폰을 담지 않았다면 예상되는 소비금액</a:t>
            </a:r>
            <a:br>
              <a:rPr lang="en-US" altLang="ko-KR" sz="1800" kern="1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</a:br>
            <a:r>
              <a:rPr lang="en-US" altLang="ko-KR" sz="1800" b="1" kern="1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g(X)</a:t>
            </a:r>
            <a:r>
              <a:rPr lang="en-US" altLang="ko-KR" sz="1800" kern="1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  : </a:t>
            </a:r>
            <a:r>
              <a:rPr lang="ko-KR" altLang="en-US" sz="1800" kern="1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쿠폰을 담을 확률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091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F5F6D-516C-4D5F-5C10-3BBC4AE9F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도표, 폰트, 라인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C873BA0-0556-132B-BBAE-56BC02839F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8418" y="4150013"/>
            <a:ext cx="7523976" cy="2674786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AD4FC687-3A31-7DB7-AE3E-2AAF355B3C69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E17AFF4-38A8-288A-732E-A20EB4BE6B03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2864194-D719-0E2E-D8C0-F0595EAAC5E6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AC56FFE-86B4-7815-C2AF-4996307155A5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7346317-DCAF-195C-87B4-27C5673792E4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63CA1DD-01AC-F64A-7FFC-8BE303A30CF8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B6A8D2A-F443-38C9-881B-6E773EC659C3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53C0685-7C72-DD2B-6729-14EF5C69E6F8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7ABBED-50DF-9F1B-FF55-C64294EDEB55}"/>
              </a:ext>
            </a:extLst>
          </p:cNvPr>
          <p:cNvSpPr txBox="1"/>
          <p:nvPr/>
        </p:nvSpPr>
        <p:spPr>
          <a:xfrm>
            <a:off x="242588" y="209592"/>
            <a:ext cx="10728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 err="1">
                <a:solidFill>
                  <a:srgbClr val="581308"/>
                </a:solidFill>
                <a:latin typeface="Agency FB" panose="020B0503020202020204" pitchFamily="34" charset="0"/>
              </a:rPr>
              <a:t>Dragonnet</a:t>
            </a:r>
            <a:endParaRPr lang="en-US" altLang="ko-KR" sz="3000" b="1" dirty="0">
              <a:solidFill>
                <a:srgbClr val="581308"/>
              </a:solidFill>
              <a:latin typeface="Agency FB" panose="020B0503020202020204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95936FB-A537-4CD6-56B8-2978BB1DC8B4}"/>
              </a:ext>
            </a:extLst>
          </p:cNvPr>
          <p:cNvSpPr/>
          <p:nvPr/>
        </p:nvSpPr>
        <p:spPr>
          <a:xfrm>
            <a:off x="588797" y="381229"/>
            <a:ext cx="10382751" cy="91557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3200" b="1" dirty="0" err="1">
                <a:latin typeface="Agency FB" panose="020B0503020202020204" pitchFamily="34" charset="0"/>
                <a:cs typeface="times" panose="02020603050405020304" pitchFamily="18" charset="0"/>
              </a:rPr>
              <a:t>Dragonnet</a:t>
            </a:r>
            <a:r>
              <a:rPr lang="en-US" altLang="ko-KR" sz="3200" b="1" dirty="0">
                <a:latin typeface="Agency FB" panose="020B0503020202020204" pitchFamily="34" charset="0"/>
                <a:cs typeface="times" panose="02020603050405020304" pitchFamily="18" charset="0"/>
              </a:rPr>
              <a:t> Architecture</a:t>
            </a:r>
            <a:endParaRPr lang="ko-KR" altLang="en-US" sz="3200" b="1" dirty="0">
              <a:latin typeface="Agency FB" panose="020B0503020202020204" pitchFamily="34" charset="0"/>
              <a:cs typeface="times" panose="02020603050405020304" pitchFamily="18" charset="0"/>
            </a:endParaRPr>
          </a:p>
        </p:txBody>
      </p:sp>
      <p:sp>
        <p:nvSpPr>
          <p:cNvPr id="6" name="Google Shape;101;p3">
            <a:extLst>
              <a:ext uri="{FF2B5EF4-FFF2-40B4-BE49-F238E27FC236}">
                <a16:creationId xmlns:a16="http://schemas.microsoft.com/office/drawing/2014/main" id="{494091A1-19D9-35CD-7E5B-9455152FDFAE}"/>
              </a:ext>
            </a:extLst>
          </p:cNvPr>
          <p:cNvSpPr txBox="1"/>
          <p:nvPr/>
        </p:nvSpPr>
        <p:spPr>
          <a:xfrm>
            <a:off x="588796" y="1381054"/>
            <a:ext cx="10018244" cy="313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4) </a:t>
            </a:r>
            <a:r>
              <a:rPr lang="ko-KR" altLang="en-US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예상한 두 상황에 따른 개인의 개별효과 </a:t>
            </a: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(ITE) </a:t>
            </a:r>
            <a:r>
              <a:rPr lang="ko-KR" altLang="en-US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도출</a:t>
            </a: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lvl="0" indent="-285750">
              <a:lnSpc>
                <a:spcPct val="110000"/>
              </a:lnSpc>
              <a:buFontTx/>
              <a:buChar char="-"/>
            </a:pPr>
            <a:r>
              <a:rPr lang="en-US" altLang="ko-KR" sz="16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DragonNet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은 일종의 평행우주 시뮬레이션 과정이다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내가 만약 쿠폰을 담았더라면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담지 않았더라면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b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</a:t>
            </a:r>
          </a:p>
          <a:p>
            <a:pPr marL="285750" lvl="0" indent="-285750">
              <a:lnSpc>
                <a:spcPct val="110000"/>
              </a:lnSpc>
              <a:buFontTx/>
              <a:buChar char="-"/>
            </a:pP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일련의 과정을 통해 한 고객의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</a:t>
            </a:r>
            <a:r>
              <a:rPr lang="ko-KR" altLang="en-US" sz="16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쿠폰담기여부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”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기준으로 두가지 상황을 만든다 </a:t>
            </a:r>
            <a:b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그리고 그 두 상황에서의 결과값을 비교해 개인별 효과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(ITE)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도출한다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b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600" b="1" kern="100" dirty="0">
                <a:latin typeface="Segoe UI Emoji" panose="020B0502040204020203" pitchFamily="34" charset="0"/>
                <a:cs typeface="Segoe UI Emoji" panose="020B0502040204020203" pitchFamily="34" charset="0"/>
              </a:rPr>
              <a:t>y1(X) - y0(X)</a:t>
            </a:r>
          </a:p>
          <a:p>
            <a:pPr marL="285750" lvl="0" indent="-285750">
              <a:lnSpc>
                <a:spcPct val="110000"/>
              </a:lnSpc>
              <a:buFontTx/>
              <a:buChar char="-"/>
            </a:pP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indent="-285750">
              <a:lnSpc>
                <a:spcPct val="110000"/>
              </a:lnSpc>
              <a:buFontTx/>
              <a:buChar char="-"/>
            </a:pP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Ex)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쿠폰을 담았을 때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고객의 예상소비금액         </a:t>
            </a:r>
            <a:r>
              <a:rPr lang="en-US" altLang="ko-KR" sz="1600" b="1" kern="100" dirty="0">
                <a:latin typeface="Segoe UI Emoji" panose="020B0502040204020203" pitchFamily="34" charset="0"/>
                <a:cs typeface="Segoe UI Emoji" panose="020B0502040204020203" pitchFamily="34" charset="0"/>
              </a:rPr>
              <a:t>y1(a)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12,800</a:t>
            </a:r>
            <a:b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쿠폰을 담지 않았을 때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고객의 예상 소비금액 </a:t>
            </a:r>
            <a:r>
              <a:rPr lang="en-US" altLang="ko-KR" sz="1600" b="1" kern="100" dirty="0">
                <a:latin typeface="Segoe UI Emoji" panose="020B0502040204020203" pitchFamily="34" charset="0"/>
                <a:cs typeface="Segoe UI Emoji" panose="020B0502040204020203" pitchFamily="34" charset="0"/>
              </a:rPr>
              <a:t>y0(a)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7,300</a:t>
            </a:r>
            <a:b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         </a:t>
            </a:r>
            <a:r>
              <a:rPr lang="en-US" altLang="ko-KR" b="1" dirty="0"/>
              <a:t>ITE = y1 - y0 = 5,500</a:t>
            </a:r>
            <a:r>
              <a:rPr lang="ko-KR" altLang="en-US" b="1" dirty="0"/>
              <a:t>원</a:t>
            </a:r>
            <a:endParaRPr lang="ko-KR" altLang="ko-KR" dirty="0"/>
          </a:p>
          <a:p>
            <a:pPr marL="285750" lvl="0" indent="-285750">
              <a:lnSpc>
                <a:spcPct val="110000"/>
              </a:lnSpc>
              <a:buFontTx/>
              <a:buChar char="-"/>
            </a:pP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AFE68E0-E6CD-A99F-4A5B-23F87F664DD5}"/>
              </a:ext>
            </a:extLst>
          </p:cNvPr>
          <p:cNvSpPr/>
          <p:nvPr/>
        </p:nvSpPr>
        <p:spPr>
          <a:xfrm>
            <a:off x="10971548" y="4065760"/>
            <a:ext cx="1022424" cy="2411011"/>
          </a:xfrm>
          <a:prstGeom prst="rect">
            <a:avLst/>
          </a:prstGeom>
          <a:noFill/>
          <a:ln w="57150">
            <a:solidFill>
              <a:srgbClr val="58130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FEEA9C9-96E0-C94E-2F6C-CEB894FE4CF5}"/>
                  </a:ext>
                </a:extLst>
              </p:cNvPr>
              <p:cNvSpPr txBox="1"/>
              <p:nvPr/>
            </p:nvSpPr>
            <p:spPr>
              <a:xfrm>
                <a:off x="11490839" y="4087910"/>
                <a:ext cx="4572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ko-KR" altLang="en-US" sz="20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  <m:sub>
                          <m:r>
                            <a:rPr lang="ko-KR" altLang="en-US" sz="2000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FEEA9C9-96E0-C94E-2F6C-CEB894FE4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0839" y="4087910"/>
                <a:ext cx="457200" cy="400110"/>
              </a:xfrm>
              <a:prstGeom prst="rect">
                <a:avLst/>
              </a:prstGeom>
              <a:blipFill>
                <a:blip r:embed="rId4"/>
                <a:stretch>
                  <a:fillRect l="-1333" t="-4615" r="-2667" b="-123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EA3654B-6193-AE7C-4166-91C34BD5E6FB}"/>
                  </a:ext>
                </a:extLst>
              </p:cNvPr>
              <p:cNvSpPr txBox="1"/>
              <p:nvPr/>
            </p:nvSpPr>
            <p:spPr>
              <a:xfrm>
                <a:off x="11461864" y="5921795"/>
                <a:ext cx="69053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ko-KR" altLang="en-US" sz="20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  <m:sub>
                          <m:r>
                            <a:rPr lang="ko-KR" altLang="en-US" sz="2000" b="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EA3654B-6193-AE7C-4166-91C34BD5E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1864" y="5921795"/>
                <a:ext cx="690530" cy="400110"/>
              </a:xfrm>
              <a:prstGeom prst="rect">
                <a:avLst/>
              </a:prstGeom>
              <a:blipFill>
                <a:blip r:embed="rId5"/>
                <a:stretch>
                  <a:fillRect t="-4545" r="-17544" b="-106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BA362FD9-BAFF-F949-D882-F908A832C82C}"/>
              </a:ext>
            </a:extLst>
          </p:cNvPr>
          <p:cNvSpPr txBox="1"/>
          <p:nvPr/>
        </p:nvSpPr>
        <p:spPr>
          <a:xfrm>
            <a:off x="411686" y="5451177"/>
            <a:ext cx="61134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ko-KR" sz="1800" b="1" kern="1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y1(X) : </a:t>
            </a:r>
            <a:r>
              <a:rPr lang="ko-KR" altLang="en-US" sz="1800" kern="1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쿠폰을 담았다면 예상되는 소비금액</a:t>
            </a:r>
            <a:br>
              <a:rPr lang="en-US" altLang="ko-KR" sz="1800" b="1" kern="1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</a:br>
            <a:r>
              <a:rPr lang="en-US" altLang="ko-KR" sz="1800" b="1" kern="1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y0(X) : </a:t>
            </a:r>
            <a:r>
              <a:rPr lang="ko-KR" altLang="en-US" kern="100" dirty="0">
                <a:latin typeface="Segoe UI Emoji" panose="020B0502040204020203" pitchFamily="34" charset="0"/>
                <a:cs typeface="Segoe UI Emoji" panose="020B0502040204020203" pitchFamily="34" charset="0"/>
              </a:rPr>
              <a:t>쿠폰을 담지 않았다면 예상되는 소비금액</a:t>
            </a:r>
            <a:br>
              <a:rPr lang="en-US" altLang="ko-KR" sz="1800" kern="1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</a:br>
            <a:r>
              <a:rPr lang="en-US" altLang="ko-KR" sz="1800" b="1" kern="1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g(X)</a:t>
            </a:r>
            <a:r>
              <a:rPr lang="en-US" altLang="ko-KR" sz="1800" kern="1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  : </a:t>
            </a:r>
            <a:r>
              <a:rPr lang="ko-KR" altLang="en-US" sz="1800" kern="1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쿠폰을 담을 확률</a:t>
            </a:r>
            <a:br>
              <a:rPr lang="en-US" altLang="ko-KR" sz="1800" kern="1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</a:br>
            <a:r>
              <a:rPr lang="en-US" altLang="ko-KR" b="1" kern="100" dirty="0">
                <a:latin typeface="Segoe UI Emoji" panose="020B0502040204020203" pitchFamily="34" charset="0"/>
                <a:cs typeface="Segoe UI Emoji" panose="020B0502040204020203" pitchFamily="34" charset="0"/>
              </a:rPr>
              <a:t>y1(X) - y0(X) : </a:t>
            </a:r>
            <a:r>
              <a:rPr lang="ko-KR" altLang="en-US" kern="100" dirty="0" err="1">
                <a:latin typeface="Segoe UI Emoji" panose="020B0502040204020203" pitchFamily="34" charset="0"/>
                <a:cs typeface="Segoe UI Emoji" panose="020B0502040204020203" pitchFamily="34" charset="0"/>
              </a:rPr>
              <a:t>쿠폰담기</a:t>
            </a:r>
            <a:r>
              <a:rPr lang="ko-KR" altLang="en-US" kern="100" dirty="0">
                <a:latin typeface="Segoe UI Emoji" panose="020B0502040204020203" pitchFamily="34" charset="0"/>
                <a:cs typeface="Segoe UI Emoji" panose="020B0502040204020203" pitchFamily="34" charset="0"/>
              </a:rPr>
              <a:t> 행위의 개인별 효과</a:t>
            </a:r>
            <a:r>
              <a:rPr lang="en-US" altLang="ko-KR" b="1" kern="100" dirty="0">
                <a:latin typeface="Segoe UI Emoji" panose="020B0502040204020203" pitchFamily="34" charset="0"/>
                <a:cs typeface="Segoe UI Emoji" panose="020B0502040204020203" pitchFamily="34" charset="0"/>
              </a:rPr>
              <a:t>(ITE)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142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F73AC-9896-F159-1651-8B2729565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도표, 폰트, 라인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46E980-0091-79AC-E027-0EAED2765D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8418" y="4150013"/>
            <a:ext cx="7523976" cy="2674786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BBE80358-A2C4-3E81-14AA-C1503899F962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C5CD800-7EA0-D1F3-268B-91E3F3302EFE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6C33CFB-FC10-30A2-676F-0E0C51ADBD76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2C5E8FA-EF5B-ECB2-ACCE-847BBB43AEF8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F29A87F-A317-FF3D-DF07-A642766F6BAF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D7A00F9-C5C6-9599-5EFB-B903F6B6142B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DA795DF-6615-DE35-0AEF-95E74B13F120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D8C43C6-B833-237E-434A-EDFB2C034194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618882-3335-8EC7-5845-21553E4E646D}"/>
              </a:ext>
            </a:extLst>
          </p:cNvPr>
          <p:cNvSpPr txBox="1"/>
          <p:nvPr/>
        </p:nvSpPr>
        <p:spPr>
          <a:xfrm>
            <a:off x="242588" y="209592"/>
            <a:ext cx="10728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 err="1">
                <a:solidFill>
                  <a:srgbClr val="581308"/>
                </a:solidFill>
                <a:latin typeface="Agency FB" panose="020B0503020202020204" pitchFamily="34" charset="0"/>
              </a:rPr>
              <a:t>Dragonnet</a:t>
            </a:r>
            <a:endParaRPr lang="en-US" altLang="ko-KR" sz="3000" b="1" dirty="0">
              <a:solidFill>
                <a:srgbClr val="581308"/>
              </a:solidFill>
              <a:latin typeface="Agency FB" panose="020B0503020202020204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A6F0DEE-B323-AB3D-533F-CE9CDBF7C1B3}"/>
              </a:ext>
            </a:extLst>
          </p:cNvPr>
          <p:cNvSpPr/>
          <p:nvPr/>
        </p:nvSpPr>
        <p:spPr>
          <a:xfrm>
            <a:off x="588797" y="381229"/>
            <a:ext cx="10382751" cy="91557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3200" b="1" dirty="0" err="1">
                <a:latin typeface="Agency FB" panose="020B0503020202020204" pitchFamily="34" charset="0"/>
                <a:cs typeface="times" panose="02020603050405020304" pitchFamily="18" charset="0"/>
              </a:rPr>
              <a:t>Dragonnet</a:t>
            </a:r>
            <a:r>
              <a:rPr lang="en-US" altLang="ko-KR" sz="3200" b="1" dirty="0">
                <a:latin typeface="Agency FB" panose="020B0503020202020204" pitchFamily="34" charset="0"/>
                <a:cs typeface="times" panose="02020603050405020304" pitchFamily="18" charset="0"/>
              </a:rPr>
              <a:t> Architecture</a:t>
            </a:r>
            <a:endParaRPr lang="ko-KR" altLang="en-US" sz="3200" b="1" dirty="0">
              <a:latin typeface="Agency FB" panose="020B0503020202020204" pitchFamily="34" charset="0"/>
              <a:cs typeface="times" panose="02020603050405020304" pitchFamily="18" charset="0"/>
            </a:endParaRPr>
          </a:p>
        </p:txBody>
      </p:sp>
      <p:sp>
        <p:nvSpPr>
          <p:cNvPr id="6" name="Google Shape;101;p3">
            <a:extLst>
              <a:ext uri="{FF2B5EF4-FFF2-40B4-BE49-F238E27FC236}">
                <a16:creationId xmlns:a16="http://schemas.microsoft.com/office/drawing/2014/main" id="{DDAED555-9054-C1BA-5769-187075B7DA39}"/>
              </a:ext>
            </a:extLst>
          </p:cNvPr>
          <p:cNvSpPr txBox="1"/>
          <p:nvPr/>
        </p:nvSpPr>
        <p:spPr>
          <a:xfrm>
            <a:off x="588795" y="1381054"/>
            <a:ext cx="10902043" cy="3376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4) </a:t>
            </a:r>
            <a:r>
              <a:rPr lang="ko-KR" altLang="en-US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예상한 두 상황에 따른 개인의 개별효과 </a:t>
            </a: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(ITE) </a:t>
            </a:r>
            <a:r>
              <a:rPr lang="ko-KR" altLang="en-US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도출</a:t>
            </a: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lvl="0" indent="-285750">
              <a:lnSpc>
                <a:spcPct val="110000"/>
              </a:lnSpc>
              <a:buFontTx/>
              <a:buChar char="-"/>
            </a:pPr>
            <a:r>
              <a:rPr lang="en-US" altLang="ko-KR" sz="16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DragonNet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은 일종의 평행우주 시뮬레이션 과정이다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내가 만약 쿠폰을 담았더라면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담지 않았더라면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b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</a:t>
            </a:r>
          </a:p>
          <a:p>
            <a:pPr marL="285750" lvl="0" indent="-285750">
              <a:lnSpc>
                <a:spcPct val="110000"/>
              </a:lnSpc>
              <a:buFontTx/>
              <a:buChar char="-"/>
            </a:pP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일련의 과정을 통해 한 고객의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</a:t>
            </a:r>
            <a:r>
              <a:rPr lang="ko-KR" altLang="en-US" sz="16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쿠폰담기여부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”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기준으로 두가지 상황을 만든다 </a:t>
            </a:r>
            <a:b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그리고 그 두 상황에서의 결과값을 비교해 개인별 효과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(ITE)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도출한다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b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600" b="1" kern="100" dirty="0">
                <a:latin typeface="Segoe UI Emoji" panose="020B0502040204020203" pitchFamily="34" charset="0"/>
                <a:cs typeface="Segoe UI Emoji" panose="020B0502040204020203" pitchFamily="34" charset="0"/>
              </a:rPr>
              <a:t>y1(X) - y0(X)</a:t>
            </a:r>
          </a:p>
          <a:p>
            <a:pPr marL="285750" lvl="0" indent="-285750">
              <a:lnSpc>
                <a:spcPct val="110000"/>
              </a:lnSpc>
              <a:buFontTx/>
              <a:buChar char="-"/>
            </a:pP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indent="-285750">
              <a:lnSpc>
                <a:spcPct val="110000"/>
              </a:lnSpc>
              <a:buFontTx/>
              <a:buChar char="-"/>
            </a:pP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이때 쿠폰을 담을 확률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g(x)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는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y1-branch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와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y0-branch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 경로에서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공정한 비교가 가능한 예측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”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하게 만드는</a:t>
            </a:r>
            <a:b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일종의 가중치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(weighting)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역할을 수행</a:t>
            </a:r>
            <a:b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indent="-285750">
              <a:lnSpc>
                <a:spcPct val="110000"/>
              </a:lnSpc>
              <a:buFontTx/>
              <a:buChar char="-"/>
            </a:pP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즉 두 </a:t>
            </a:r>
            <a:r>
              <a:rPr lang="ko-KR" altLang="en-US" sz="16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브랜치가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내놓는 결과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(y1,y0)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</a:t>
            </a:r>
            <a:b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얼마나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믿음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”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또는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불신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”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줄지 방향을 알려주는 신호가 된다</a:t>
            </a: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B5B3992-8BDA-A8E9-7171-B3D7C50924A0}"/>
              </a:ext>
            </a:extLst>
          </p:cNvPr>
          <p:cNvSpPr/>
          <p:nvPr/>
        </p:nvSpPr>
        <p:spPr>
          <a:xfrm>
            <a:off x="10971548" y="4065760"/>
            <a:ext cx="1022424" cy="2411011"/>
          </a:xfrm>
          <a:prstGeom prst="rect">
            <a:avLst/>
          </a:prstGeom>
          <a:noFill/>
          <a:ln w="57150">
            <a:solidFill>
              <a:srgbClr val="58130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FF4DD9D-C908-EE4D-35B9-0CADC8855A82}"/>
                  </a:ext>
                </a:extLst>
              </p:cNvPr>
              <p:cNvSpPr txBox="1"/>
              <p:nvPr/>
            </p:nvSpPr>
            <p:spPr>
              <a:xfrm>
                <a:off x="11490839" y="4087910"/>
                <a:ext cx="4572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ko-KR" altLang="en-US" sz="20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  <m:sub>
                          <m:r>
                            <a:rPr lang="ko-KR" altLang="en-US" sz="2000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FF4DD9D-C908-EE4D-35B9-0CADC8855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0839" y="4087910"/>
                <a:ext cx="457200" cy="400110"/>
              </a:xfrm>
              <a:prstGeom prst="rect">
                <a:avLst/>
              </a:prstGeom>
              <a:blipFill>
                <a:blip r:embed="rId4"/>
                <a:stretch>
                  <a:fillRect l="-1333" t="-4615" r="-2667" b="-123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C0E4226-12CD-DA82-C486-19EB9F38BAD6}"/>
                  </a:ext>
                </a:extLst>
              </p:cNvPr>
              <p:cNvSpPr txBox="1"/>
              <p:nvPr/>
            </p:nvSpPr>
            <p:spPr>
              <a:xfrm>
                <a:off x="11461864" y="5921795"/>
                <a:ext cx="69053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ko-KR" altLang="en-US" sz="20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  <m:sub>
                          <m:r>
                            <a:rPr lang="ko-KR" altLang="en-US" sz="2000" b="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C0E4226-12CD-DA82-C486-19EB9F38BA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1864" y="5921795"/>
                <a:ext cx="690530" cy="400110"/>
              </a:xfrm>
              <a:prstGeom prst="rect">
                <a:avLst/>
              </a:prstGeom>
              <a:blipFill>
                <a:blip r:embed="rId5"/>
                <a:stretch>
                  <a:fillRect t="-4545" r="-17544" b="-106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CB39E93-76EB-FF38-EE64-A9D2BE81F39F}"/>
              </a:ext>
            </a:extLst>
          </p:cNvPr>
          <p:cNvSpPr txBox="1"/>
          <p:nvPr/>
        </p:nvSpPr>
        <p:spPr>
          <a:xfrm>
            <a:off x="411686" y="5451177"/>
            <a:ext cx="61134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ko-KR" sz="1800" b="1" kern="1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y1(X) : </a:t>
            </a:r>
            <a:r>
              <a:rPr lang="ko-KR" altLang="en-US" sz="1800" kern="1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쿠폰을 담았다면 예상되는 소비금액</a:t>
            </a:r>
            <a:br>
              <a:rPr lang="en-US" altLang="ko-KR" sz="1800" b="1" kern="1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</a:br>
            <a:r>
              <a:rPr lang="en-US" altLang="ko-KR" sz="1800" b="1" kern="1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y0(X) : </a:t>
            </a:r>
            <a:r>
              <a:rPr lang="ko-KR" altLang="en-US" kern="100" dirty="0">
                <a:latin typeface="Segoe UI Emoji" panose="020B0502040204020203" pitchFamily="34" charset="0"/>
                <a:cs typeface="Segoe UI Emoji" panose="020B0502040204020203" pitchFamily="34" charset="0"/>
              </a:rPr>
              <a:t>쿠폰을 담지 않았다면 예상되는 소비금액</a:t>
            </a:r>
            <a:br>
              <a:rPr lang="en-US" altLang="ko-KR" sz="1800" kern="1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</a:br>
            <a:r>
              <a:rPr lang="en-US" altLang="ko-KR" sz="1800" b="1" kern="1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g(X)</a:t>
            </a:r>
            <a:r>
              <a:rPr lang="en-US" altLang="ko-KR" sz="1800" kern="1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  : </a:t>
            </a:r>
            <a:r>
              <a:rPr lang="ko-KR" altLang="en-US" sz="1800" kern="1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쿠폰을 담을 확률</a:t>
            </a:r>
            <a:br>
              <a:rPr lang="en-US" altLang="ko-KR" sz="1800" kern="1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</a:br>
            <a:r>
              <a:rPr lang="en-US" altLang="ko-KR" b="1" kern="100" dirty="0">
                <a:latin typeface="Segoe UI Emoji" panose="020B0502040204020203" pitchFamily="34" charset="0"/>
                <a:cs typeface="Segoe UI Emoji" panose="020B0502040204020203" pitchFamily="34" charset="0"/>
              </a:rPr>
              <a:t>y1(X) - y0(X) : </a:t>
            </a:r>
            <a:r>
              <a:rPr lang="ko-KR" altLang="en-US" kern="100" dirty="0" err="1">
                <a:latin typeface="Segoe UI Emoji" panose="020B0502040204020203" pitchFamily="34" charset="0"/>
                <a:cs typeface="Segoe UI Emoji" panose="020B0502040204020203" pitchFamily="34" charset="0"/>
              </a:rPr>
              <a:t>쿠폰담기</a:t>
            </a:r>
            <a:r>
              <a:rPr lang="ko-KR" altLang="en-US" kern="100" dirty="0">
                <a:latin typeface="Segoe UI Emoji" panose="020B0502040204020203" pitchFamily="34" charset="0"/>
                <a:cs typeface="Segoe UI Emoji" panose="020B0502040204020203" pitchFamily="34" charset="0"/>
              </a:rPr>
              <a:t> 행위의 개인별 효과</a:t>
            </a:r>
            <a:r>
              <a:rPr lang="en-US" altLang="ko-KR" b="1" kern="100" dirty="0">
                <a:latin typeface="Segoe UI Emoji" panose="020B0502040204020203" pitchFamily="34" charset="0"/>
                <a:cs typeface="Segoe UI Emoji" panose="020B0502040204020203" pitchFamily="34" charset="0"/>
              </a:rPr>
              <a:t>(ITE)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223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9E3B0-792E-CA02-33C4-628A6D622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B2EE43AC-1BDD-0B5D-EC76-E6F6850E20D5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FE4581A-EEDE-3439-15E7-A4F0ADB6CE0A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3C1E8EC-EB3A-4AE9-863D-D4CF44B8DEFB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45769D4-87D9-7497-7E0B-C31BBA2796CF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E5D4128-11D1-1FD4-A0B0-1C78EF9A17A2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00078B7-7A64-4652-117B-B2C1801C37C6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14CA0CF-1607-20CF-C10D-5BA118B2AED6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2209641-A5A3-C135-BE2E-807F35F86A26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CA6388-8F2B-EF50-DF8E-76AB0FAAC6BB}"/>
              </a:ext>
            </a:extLst>
          </p:cNvPr>
          <p:cNvSpPr txBox="1"/>
          <p:nvPr/>
        </p:nvSpPr>
        <p:spPr>
          <a:xfrm>
            <a:off x="242588" y="209592"/>
            <a:ext cx="10728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 err="1">
                <a:solidFill>
                  <a:srgbClr val="581308"/>
                </a:solidFill>
                <a:latin typeface="Agency FB" panose="020B0503020202020204" pitchFamily="34" charset="0"/>
              </a:rPr>
              <a:t>Dragonnet</a:t>
            </a:r>
            <a:r>
              <a:rPr lang="en-US" altLang="ko-KR" sz="3000" b="1" dirty="0">
                <a:solidFill>
                  <a:srgbClr val="581308"/>
                </a:solidFill>
                <a:latin typeface="Agency FB" panose="020B0503020202020204" pitchFamily="34" charset="0"/>
              </a:rPr>
              <a:t>-SHAP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BF790F0-926A-8FFD-5ADD-9B378C19B879}"/>
              </a:ext>
            </a:extLst>
          </p:cNvPr>
          <p:cNvSpPr/>
          <p:nvPr/>
        </p:nvSpPr>
        <p:spPr>
          <a:xfrm>
            <a:off x="588797" y="381229"/>
            <a:ext cx="10382751" cy="91557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3200" b="1" dirty="0" err="1">
                <a:latin typeface="Agency FB" panose="020B0503020202020204" pitchFamily="34" charset="0"/>
                <a:cs typeface="times" panose="02020603050405020304" pitchFamily="18" charset="0"/>
              </a:rPr>
              <a:t>Dragonnet</a:t>
            </a:r>
            <a:r>
              <a:rPr lang="en-US" altLang="ko-KR" sz="3200" b="1" dirty="0">
                <a:latin typeface="Agency FB" panose="020B0503020202020204" pitchFamily="34" charset="0"/>
                <a:cs typeface="times" panose="02020603050405020304" pitchFamily="18" charset="0"/>
              </a:rPr>
              <a:t> </a:t>
            </a:r>
            <a:r>
              <a:rPr lang="ko-KR" altLang="en-US" sz="3200" b="1" dirty="0">
                <a:latin typeface="Agency FB" panose="020B0503020202020204" pitchFamily="34" charset="0"/>
                <a:cs typeface="times" panose="02020603050405020304" pitchFamily="18" charset="0"/>
              </a:rPr>
              <a:t>의 평가</a:t>
            </a:r>
          </a:p>
        </p:txBody>
      </p:sp>
      <p:sp>
        <p:nvSpPr>
          <p:cNvPr id="6" name="Google Shape;101;p3">
            <a:extLst>
              <a:ext uri="{FF2B5EF4-FFF2-40B4-BE49-F238E27FC236}">
                <a16:creationId xmlns:a16="http://schemas.microsoft.com/office/drawing/2014/main" id="{9567F1AE-60C8-D518-B98C-9949F5A568B6}"/>
              </a:ext>
            </a:extLst>
          </p:cNvPr>
          <p:cNvSpPr txBox="1"/>
          <p:nvPr/>
        </p:nvSpPr>
        <p:spPr>
          <a:xfrm>
            <a:off x="588795" y="1381054"/>
            <a:ext cx="10902043" cy="39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1) </a:t>
            </a:r>
            <a:r>
              <a:rPr lang="en-US" altLang="ko-KR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DragonNet</a:t>
            </a:r>
            <a:r>
              <a:rPr lang="ko-KR" altLang="en-US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통해 최종적으로 산출된 데이터</a:t>
            </a: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62EAD7C-D6E0-52E6-D6C3-A2D7B16CE04B}"/>
                  </a:ext>
                </a:extLst>
              </p:cNvPr>
              <p:cNvSpPr txBox="1"/>
              <p:nvPr/>
            </p:nvSpPr>
            <p:spPr>
              <a:xfrm>
                <a:off x="11490839" y="4087910"/>
                <a:ext cx="4572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ko-KR" altLang="en-US" sz="20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  <m:sub>
                          <m:r>
                            <a:rPr lang="ko-KR" altLang="en-US" sz="2000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62EAD7C-D6E0-52E6-D6C3-A2D7B16CE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0839" y="4087910"/>
                <a:ext cx="457200" cy="400110"/>
              </a:xfrm>
              <a:prstGeom prst="rect">
                <a:avLst/>
              </a:prstGeom>
              <a:blipFill>
                <a:blip r:embed="rId3"/>
                <a:stretch>
                  <a:fillRect l="-1333" t="-4615" r="-2667" b="-123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A9FC9BA-62DD-6428-D83C-9742EA148797}"/>
                  </a:ext>
                </a:extLst>
              </p:cNvPr>
              <p:cNvSpPr txBox="1"/>
              <p:nvPr/>
            </p:nvSpPr>
            <p:spPr>
              <a:xfrm>
                <a:off x="11461864" y="5921795"/>
                <a:ext cx="69053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ko-KR" altLang="en-US" sz="20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  <m:sub>
                          <m:r>
                            <a:rPr lang="ko-KR" altLang="en-US" sz="2000" b="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A9FC9BA-62DD-6428-D83C-9742EA148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1864" y="5921795"/>
                <a:ext cx="690530" cy="400110"/>
              </a:xfrm>
              <a:prstGeom prst="rect">
                <a:avLst/>
              </a:prstGeom>
              <a:blipFill>
                <a:blip r:embed="rId4"/>
                <a:stretch>
                  <a:fillRect t="-4545" r="-17544" b="-106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CA67DEC3-7BCD-18FF-28EB-F248E14AAFFE}"/>
              </a:ext>
            </a:extLst>
          </p:cNvPr>
          <p:cNvSpPr txBox="1"/>
          <p:nvPr/>
        </p:nvSpPr>
        <p:spPr>
          <a:xfrm>
            <a:off x="742990" y="2117741"/>
            <a:ext cx="61134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ko-KR" sz="1800" b="1" kern="1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y1(X) : </a:t>
            </a:r>
            <a:r>
              <a:rPr lang="ko-KR" altLang="en-US" sz="1800" kern="1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쿠폰을 담았다면 예상되는 소비금액</a:t>
            </a:r>
            <a:br>
              <a:rPr lang="en-US" altLang="ko-KR" sz="1800" b="1" kern="1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</a:br>
            <a:r>
              <a:rPr lang="en-US" altLang="ko-KR" sz="1800" b="1" kern="1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y0(X) : </a:t>
            </a:r>
            <a:r>
              <a:rPr lang="ko-KR" altLang="en-US" kern="100" dirty="0">
                <a:latin typeface="Segoe UI Emoji" panose="020B0502040204020203" pitchFamily="34" charset="0"/>
                <a:cs typeface="Segoe UI Emoji" panose="020B0502040204020203" pitchFamily="34" charset="0"/>
              </a:rPr>
              <a:t>쿠폰을 담지 않았다면 예상되는 소비금액</a:t>
            </a:r>
            <a:br>
              <a:rPr lang="en-US" altLang="ko-KR" sz="1800" kern="1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</a:br>
            <a:r>
              <a:rPr lang="en-US" altLang="ko-KR" sz="1800" b="1" kern="1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g(X)</a:t>
            </a:r>
            <a:r>
              <a:rPr lang="en-US" altLang="ko-KR" sz="1800" kern="1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  : </a:t>
            </a:r>
            <a:r>
              <a:rPr lang="ko-KR" altLang="en-US" sz="1800" kern="1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  <a:t>쿠폰을 담을 확률</a:t>
            </a:r>
            <a:br>
              <a:rPr lang="en-US" altLang="ko-KR" sz="1800" kern="100" dirty="0">
                <a:effectLst/>
                <a:latin typeface="Segoe UI Emoji" panose="020B0502040204020203" pitchFamily="34" charset="0"/>
                <a:ea typeface="맑은 고딕" panose="020B0503020000020004" pitchFamily="50" charset="-127"/>
                <a:cs typeface="Segoe UI Emoji" panose="020B0502040204020203" pitchFamily="34" charset="0"/>
              </a:rPr>
            </a:br>
            <a:r>
              <a:rPr lang="en-US" altLang="ko-KR" b="1" kern="100" dirty="0">
                <a:latin typeface="Segoe UI Emoji" panose="020B0502040204020203" pitchFamily="34" charset="0"/>
                <a:cs typeface="Segoe UI Emoji" panose="020B0502040204020203" pitchFamily="34" charset="0"/>
              </a:rPr>
              <a:t>y1(X) - y0(X) : </a:t>
            </a:r>
            <a:r>
              <a:rPr lang="ko-KR" altLang="en-US" kern="100" dirty="0" err="1">
                <a:latin typeface="Segoe UI Emoji" panose="020B0502040204020203" pitchFamily="34" charset="0"/>
                <a:cs typeface="Segoe UI Emoji" panose="020B0502040204020203" pitchFamily="34" charset="0"/>
              </a:rPr>
              <a:t>쿠폰담기</a:t>
            </a:r>
            <a:r>
              <a:rPr lang="ko-KR" altLang="en-US" kern="100" dirty="0">
                <a:latin typeface="Segoe UI Emoji" panose="020B0502040204020203" pitchFamily="34" charset="0"/>
                <a:cs typeface="Segoe UI Emoji" panose="020B0502040204020203" pitchFamily="34" charset="0"/>
              </a:rPr>
              <a:t> 행위의 개인별 효과</a:t>
            </a:r>
            <a:r>
              <a:rPr lang="en-US" altLang="ko-KR" b="1" kern="100" dirty="0">
                <a:latin typeface="Segoe UI Emoji" panose="020B0502040204020203" pitchFamily="34" charset="0"/>
                <a:cs typeface="Segoe UI Emoji" panose="020B0502040204020203" pitchFamily="34" charset="0"/>
              </a:rPr>
              <a:t>(ITE)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7" name="Google Shape;101;p3">
            <a:extLst>
              <a:ext uri="{FF2B5EF4-FFF2-40B4-BE49-F238E27FC236}">
                <a16:creationId xmlns:a16="http://schemas.microsoft.com/office/drawing/2014/main" id="{9016DBA0-0661-5397-5FBC-46462D09DBA7}"/>
              </a:ext>
            </a:extLst>
          </p:cNvPr>
          <p:cNvSpPr txBox="1"/>
          <p:nvPr/>
        </p:nvSpPr>
        <p:spPr>
          <a:xfrm>
            <a:off x="559168" y="3539931"/>
            <a:ext cx="9565467" cy="2022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2) </a:t>
            </a:r>
            <a:r>
              <a:rPr lang="en-US" altLang="ko-KR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DragonNet</a:t>
            </a: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은 일종의 </a:t>
            </a: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</a:t>
            </a:r>
            <a:r>
              <a:rPr lang="ko-KR" altLang="en-US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블랙박스 인과모형</a:t>
            </a: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”</a:t>
            </a:r>
          </a:p>
          <a:p>
            <a:pPr marL="285750" lvl="0" indent="-285750">
              <a:lnSpc>
                <a:spcPct val="110000"/>
              </a:lnSpc>
              <a:buFontTx/>
              <a:buChar char="-"/>
            </a:pPr>
            <a:r>
              <a:rPr lang="en-US" altLang="ko-KR" sz="1600" b="1" dirty="0"/>
              <a:t>Heckman </a:t>
            </a:r>
            <a:r>
              <a:rPr lang="ko-KR" altLang="en-US" sz="1600" b="1" dirty="0"/>
              <a:t>같은 기존의 인과모형과 달리 </a:t>
            </a:r>
            <a:r>
              <a:rPr lang="en-US" altLang="ko-KR" sz="1600" b="1" dirty="0"/>
              <a:t>β</a:t>
            </a:r>
            <a:r>
              <a:rPr lang="ko-KR" altLang="en-US" sz="1600" b="1" dirty="0"/>
              <a:t>라는 개념이 없다</a:t>
            </a:r>
            <a:endParaRPr lang="en-US" altLang="ko-KR" sz="16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lvl="0" indent="-285750">
              <a:lnSpc>
                <a:spcPct val="110000"/>
              </a:lnSpc>
              <a:buFontTx/>
              <a:buChar char="-"/>
            </a:pP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변수가 효과를 높였다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낮췄다 같은 해석을 모델 자체로 할 수 없음</a:t>
            </a: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lvl="0" indent="-285750">
              <a:lnSpc>
                <a:spcPct val="110000"/>
              </a:lnSpc>
              <a:buFontTx/>
              <a:buChar char="-"/>
            </a:pP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Feature importance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 제공되지 않는다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</a:p>
          <a:p>
            <a:pPr marL="285750" lvl="0" indent="-285750">
              <a:lnSpc>
                <a:spcPct val="110000"/>
              </a:lnSpc>
              <a:buFontTx/>
              <a:buChar char="-"/>
            </a:pPr>
            <a:r>
              <a:rPr lang="en-US" altLang="ko-KR" sz="16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DragonNet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 변수 효과는 설명 가능한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알고리즘에 의존해야 한다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</a:p>
          <a:p>
            <a:pPr lvl="0">
              <a:lnSpc>
                <a:spcPct val="110000"/>
              </a:lnSpc>
            </a:pPr>
            <a:b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Wingdings" panose="05000000000000000000" pitchFamily="2" charset="2"/>
              </a:rPr>
              <a:t>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Wingdings" panose="05000000000000000000" pitchFamily="2" charset="2"/>
              </a:rPr>
              <a:t>그래서 딥러닝 모델의 해석과 평가는 그에 맞는 방법론을 사용해야 한다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Wingdings" panose="05000000000000000000" pitchFamily="2" charset="2"/>
              </a:rPr>
              <a:t>.</a:t>
            </a: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" name="Google Shape;101;p3">
            <a:extLst>
              <a:ext uri="{FF2B5EF4-FFF2-40B4-BE49-F238E27FC236}">
                <a16:creationId xmlns:a16="http://schemas.microsoft.com/office/drawing/2014/main" id="{884AC7CB-212F-C84D-DA38-85EF21A42E3B}"/>
              </a:ext>
            </a:extLst>
          </p:cNvPr>
          <p:cNvSpPr txBox="1"/>
          <p:nvPr/>
        </p:nvSpPr>
        <p:spPr>
          <a:xfrm>
            <a:off x="559168" y="5769895"/>
            <a:ext cx="9565467" cy="39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3) </a:t>
            </a: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그래서 필요한 설명도구가</a:t>
            </a:r>
            <a:r>
              <a:rPr lang="ko-KR" altLang="en-US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SHAP (</a:t>
            </a:r>
            <a:r>
              <a:rPr lang="ko-KR" altLang="en-US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가장 표준</a:t>
            </a: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760048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B58AE-FCA3-A0EE-CCA4-306B976A5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D6C571EC-DC2E-4DD4-BB15-37F51DE2AE4A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3B656D8-A164-0CB1-C135-324A4567CEE2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9F1D532-9DDE-937E-BF6B-7ED1911BBD30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1C80021-6AEA-E3B3-C66D-B5FED2BC55AC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FA87D57-DA8C-F03D-7B1B-04FF97BC8DBF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14E5B20-AEE2-70E8-1B46-FFB81DB3533B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068EE48-4048-7DD2-338F-A451E66288D1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1527E76-45A9-9757-3625-5BE8103FBFAB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024EE4-9BD7-EF05-F611-978846D2BA15}"/>
              </a:ext>
            </a:extLst>
          </p:cNvPr>
          <p:cNvSpPr txBox="1"/>
          <p:nvPr/>
        </p:nvSpPr>
        <p:spPr>
          <a:xfrm>
            <a:off x="242588" y="209592"/>
            <a:ext cx="10728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 err="1">
                <a:solidFill>
                  <a:srgbClr val="581308"/>
                </a:solidFill>
                <a:latin typeface="Agency FB" panose="020B0503020202020204" pitchFamily="34" charset="0"/>
              </a:rPr>
              <a:t>Dragonnet</a:t>
            </a:r>
            <a:r>
              <a:rPr lang="en-US" altLang="ko-KR" sz="3000" b="1" dirty="0">
                <a:solidFill>
                  <a:srgbClr val="581308"/>
                </a:solidFill>
                <a:latin typeface="Agency FB" panose="020B0503020202020204" pitchFamily="34" charset="0"/>
              </a:rPr>
              <a:t>-SHAP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BBEF9F1-F679-4E12-7A25-93C4AF7485FC}"/>
              </a:ext>
            </a:extLst>
          </p:cNvPr>
          <p:cNvSpPr/>
          <p:nvPr/>
        </p:nvSpPr>
        <p:spPr>
          <a:xfrm>
            <a:off x="588797" y="381229"/>
            <a:ext cx="10382751" cy="91557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3200" b="1" dirty="0">
                <a:latin typeface="Agency FB" panose="020B0503020202020204" pitchFamily="34" charset="0"/>
                <a:cs typeface="times" panose="02020603050405020304" pitchFamily="18" charset="0"/>
              </a:rPr>
              <a:t>SHAP</a:t>
            </a:r>
            <a:endParaRPr lang="ko-KR" altLang="en-US" sz="3200" b="1" dirty="0">
              <a:latin typeface="Agency FB" panose="020B0503020202020204" pitchFamily="34" charset="0"/>
              <a:cs typeface="times" panose="02020603050405020304" pitchFamily="18" charset="0"/>
            </a:endParaRPr>
          </a:p>
        </p:txBody>
      </p:sp>
      <p:sp>
        <p:nvSpPr>
          <p:cNvPr id="6" name="Google Shape;101;p3">
            <a:extLst>
              <a:ext uri="{FF2B5EF4-FFF2-40B4-BE49-F238E27FC236}">
                <a16:creationId xmlns:a16="http://schemas.microsoft.com/office/drawing/2014/main" id="{B6FD4B82-63C0-4285-A561-9D569CABB102}"/>
              </a:ext>
            </a:extLst>
          </p:cNvPr>
          <p:cNvSpPr txBox="1"/>
          <p:nvPr/>
        </p:nvSpPr>
        <p:spPr>
          <a:xfrm>
            <a:off x="588795" y="1381054"/>
            <a:ext cx="10902043" cy="66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AutoNum type="arabicParenR"/>
            </a:pP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SHAP – </a:t>
            </a:r>
            <a:r>
              <a:rPr lang="ko-KR" altLang="en-US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설명가능 </a:t>
            </a: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</a:t>
            </a:r>
          </a:p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- </a:t>
            </a:r>
            <a:r>
              <a:rPr lang="en-US" altLang="ko-KR" sz="16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DragonNet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추정한 인과효과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(ITE, ATE, CATE)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변수별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기여도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(importance)’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 분해하여 설명한다</a:t>
            </a: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1;p3">
            <a:extLst>
              <a:ext uri="{FF2B5EF4-FFF2-40B4-BE49-F238E27FC236}">
                <a16:creationId xmlns:a16="http://schemas.microsoft.com/office/drawing/2014/main" id="{F6AD48B5-6A75-C65E-37B4-6C26F2B8382A}"/>
              </a:ext>
            </a:extLst>
          </p:cNvPr>
          <p:cNvSpPr txBox="1"/>
          <p:nvPr/>
        </p:nvSpPr>
        <p:spPr>
          <a:xfrm>
            <a:off x="559168" y="2254473"/>
            <a:ext cx="9565467" cy="1209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2) SHAP plot </a:t>
            </a:r>
            <a:r>
              <a:rPr lang="ko-KR" altLang="en-US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보여주는 핵심 개념</a:t>
            </a:r>
            <a:endParaRPr lang="en-US" altLang="ko-KR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lvl="0" indent="-285750">
              <a:lnSpc>
                <a:spcPct val="110000"/>
              </a:lnSpc>
              <a:buFontTx/>
              <a:buChar char="-"/>
            </a:pP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복잡한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en-US" altLang="ko-KR" sz="16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DragonNet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왜 특정 예측을 했는지를 설명</a:t>
            </a: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lvl="0" indent="-285750">
              <a:lnSpc>
                <a:spcPct val="110000"/>
              </a:lnSpc>
              <a:buFontTx/>
              <a:buChar char="-"/>
            </a:pP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변수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(feature)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 </a:t>
            </a:r>
            <a:r>
              <a:rPr lang="ko-KR" altLang="en-US" sz="16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예측값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우리 연구의 경우 개인별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ITE)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얼마나 올리고 내렸는지 기여도를 계산</a:t>
            </a: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lvl="0" indent="-285750">
              <a:lnSpc>
                <a:spcPct val="110000"/>
              </a:lnSpc>
              <a:buFontTx/>
              <a:buChar char="-"/>
            </a:pP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Shapely Value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기반으로 공정하게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변수별 기여도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”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를 분배</a:t>
            </a: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" name="Google Shape;101;p3">
            <a:extLst>
              <a:ext uri="{FF2B5EF4-FFF2-40B4-BE49-F238E27FC236}">
                <a16:creationId xmlns:a16="http://schemas.microsoft.com/office/drawing/2014/main" id="{75C9B554-E368-9DCB-BD7C-93ED797EEEB4}"/>
              </a:ext>
            </a:extLst>
          </p:cNvPr>
          <p:cNvSpPr txBox="1"/>
          <p:nvPr/>
        </p:nvSpPr>
        <p:spPr>
          <a:xfrm>
            <a:off x="559168" y="3761842"/>
            <a:ext cx="9565467" cy="1209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2) SHAP </a:t>
            </a:r>
            <a:r>
              <a:rPr lang="en-US" altLang="ko-KR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Beeswarm</a:t>
            </a: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Plot</a:t>
            </a:r>
          </a:p>
          <a:p>
            <a:pPr marL="285750" lvl="0" indent="-285750">
              <a:lnSpc>
                <a:spcPct val="110000"/>
              </a:lnSpc>
              <a:buFontTx/>
              <a:buChar char="-"/>
            </a:pP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복잡한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en-US" altLang="ko-KR" sz="16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DragonNet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왜 특정 예측을 했는지를 설명</a:t>
            </a: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lvl="0" indent="-285750">
              <a:lnSpc>
                <a:spcPct val="110000"/>
              </a:lnSpc>
              <a:buFontTx/>
              <a:buChar char="-"/>
            </a:pP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변수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(feature)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 </a:t>
            </a:r>
            <a:r>
              <a:rPr lang="ko-KR" altLang="en-US" sz="16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예측값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우리 연구의 경우 개인별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ITE)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얼마나 올리고 내렸는지 기여도를 계산</a:t>
            </a: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lvl="0" indent="-285750">
              <a:lnSpc>
                <a:spcPct val="110000"/>
              </a:lnSpc>
              <a:buFontTx/>
              <a:buChar char="-"/>
            </a:pP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Shapely Value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기반으로 공정하게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변수별 기여도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”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를 분배</a:t>
            </a: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8585575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9C68B-365F-A37C-E93A-B69F6606F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6B16BCEE-31C8-22D0-470C-CF4921574F6A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72A3DAD-F5B6-37C0-CB51-A63B2903DD58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AD167CC-EE26-AEDA-F7BC-756CB6158C5F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DBE736F-0AEE-39CA-EB7F-44F15E426720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67E0AF3-FD11-6282-5546-AA2D1830EF91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70F855E-9377-5D34-5F5C-139EB39AC04E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DB0CE46-6793-3866-0D37-4F886E41AC10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208A390-A002-85AE-53D2-CA48CB9AF408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BB0005-6DB9-EB4F-D937-7C2944B2A6E6}"/>
              </a:ext>
            </a:extLst>
          </p:cNvPr>
          <p:cNvSpPr txBox="1"/>
          <p:nvPr/>
        </p:nvSpPr>
        <p:spPr>
          <a:xfrm>
            <a:off x="242588" y="209592"/>
            <a:ext cx="10728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 err="1">
                <a:solidFill>
                  <a:srgbClr val="581308"/>
                </a:solidFill>
                <a:latin typeface="Agency FB" panose="020B0503020202020204" pitchFamily="34" charset="0"/>
              </a:rPr>
              <a:t>Dragonnet</a:t>
            </a:r>
            <a:r>
              <a:rPr lang="en-US" altLang="ko-KR" sz="3000" b="1" dirty="0">
                <a:solidFill>
                  <a:srgbClr val="581308"/>
                </a:solidFill>
                <a:latin typeface="Agency FB" panose="020B0503020202020204" pitchFamily="34" charset="0"/>
              </a:rPr>
              <a:t>-SHAP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9FA468D-7277-241A-601D-32890466F2D7}"/>
              </a:ext>
            </a:extLst>
          </p:cNvPr>
          <p:cNvSpPr/>
          <p:nvPr/>
        </p:nvSpPr>
        <p:spPr>
          <a:xfrm>
            <a:off x="588797" y="381229"/>
            <a:ext cx="10382751" cy="91557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3200" b="1" dirty="0">
                <a:latin typeface="Agency FB" panose="020B0503020202020204" pitchFamily="34" charset="0"/>
                <a:cs typeface="times" panose="02020603050405020304" pitchFamily="18" charset="0"/>
              </a:rPr>
              <a:t>SHAP</a:t>
            </a:r>
            <a:endParaRPr lang="ko-KR" altLang="en-US" sz="3200" b="1" dirty="0">
              <a:latin typeface="Agency FB" panose="020B0503020202020204" pitchFamily="34" charset="0"/>
              <a:cs typeface="times" panose="02020603050405020304" pitchFamily="18" charset="0"/>
            </a:endParaRPr>
          </a:p>
        </p:txBody>
      </p:sp>
      <p:sp>
        <p:nvSpPr>
          <p:cNvPr id="6" name="Google Shape;101;p3">
            <a:extLst>
              <a:ext uri="{FF2B5EF4-FFF2-40B4-BE49-F238E27FC236}">
                <a16:creationId xmlns:a16="http://schemas.microsoft.com/office/drawing/2014/main" id="{E4D47365-877B-2298-7A3F-D05594B33F3C}"/>
              </a:ext>
            </a:extLst>
          </p:cNvPr>
          <p:cNvSpPr txBox="1"/>
          <p:nvPr/>
        </p:nvSpPr>
        <p:spPr>
          <a:xfrm>
            <a:off x="588795" y="1381054"/>
            <a:ext cx="10902043" cy="66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AutoNum type="arabicParenR"/>
            </a:pP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SHAP – </a:t>
            </a:r>
            <a:r>
              <a:rPr lang="ko-KR" altLang="en-US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설명가능 </a:t>
            </a: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</a:t>
            </a:r>
          </a:p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- </a:t>
            </a:r>
            <a:r>
              <a:rPr lang="en-US" altLang="ko-KR" sz="16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DragonNet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추정한 인과효과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(ITE, ATE, CATE)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변수별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기여도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(importance)’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 분해하여 설명한다</a:t>
            </a: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1;p3">
            <a:extLst>
              <a:ext uri="{FF2B5EF4-FFF2-40B4-BE49-F238E27FC236}">
                <a16:creationId xmlns:a16="http://schemas.microsoft.com/office/drawing/2014/main" id="{FEAD17C7-D1CA-4B20-0EEA-324397BFA714}"/>
              </a:ext>
            </a:extLst>
          </p:cNvPr>
          <p:cNvSpPr txBox="1"/>
          <p:nvPr/>
        </p:nvSpPr>
        <p:spPr>
          <a:xfrm>
            <a:off x="559168" y="2254473"/>
            <a:ext cx="9565467" cy="1209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2) SHAP plot </a:t>
            </a:r>
            <a:r>
              <a:rPr lang="ko-KR" altLang="en-US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보여주는 핵심 개념</a:t>
            </a:r>
            <a:endParaRPr lang="en-US" altLang="ko-KR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lvl="0" indent="-285750">
              <a:lnSpc>
                <a:spcPct val="110000"/>
              </a:lnSpc>
              <a:buFontTx/>
              <a:buChar char="-"/>
            </a:pP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복잡한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en-US" altLang="ko-KR" sz="16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DragonNet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왜 특정 예측을 했는지를 설명</a:t>
            </a: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lvl="0" indent="-285750">
              <a:lnSpc>
                <a:spcPct val="110000"/>
              </a:lnSpc>
              <a:buFontTx/>
              <a:buChar char="-"/>
            </a:pP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변수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(feature)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 </a:t>
            </a:r>
            <a:r>
              <a:rPr lang="ko-KR" altLang="en-US" sz="16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예측값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우리 연구의 경우 개인별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ITE)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얼마나 올리고 내렸는지 기여도를 계산</a:t>
            </a: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lvl="0" indent="-285750">
              <a:lnSpc>
                <a:spcPct val="110000"/>
              </a:lnSpc>
              <a:buFontTx/>
              <a:buChar char="-"/>
            </a:pP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Shapely Value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기반으로 공정하게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변수별 기여도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”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를 분배</a:t>
            </a: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" name="Google Shape;101;p3">
            <a:extLst>
              <a:ext uri="{FF2B5EF4-FFF2-40B4-BE49-F238E27FC236}">
                <a16:creationId xmlns:a16="http://schemas.microsoft.com/office/drawing/2014/main" id="{0BC6CF6C-74F1-B08D-9DD0-BDAF78D6B167}"/>
              </a:ext>
            </a:extLst>
          </p:cNvPr>
          <p:cNvSpPr txBox="1"/>
          <p:nvPr/>
        </p:nvSpPr>
        <p:spPr>
          <a:xfrm>
            <a:off x="559168" y="3761842"/>
            <a:ext cx="9565467" cy="39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3) SHAP </a:t>
            </a:r>
            <a:r>
              <a:rPr lang="en-US" altLang="ko-KR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Beeswarm</a:t>
            </a: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Plot</a:t>
            </a:r>
          </a:p>
        </p:txBody>
      </p:sp>
    </p:spTree>
    <p:extLst>
      <p:ext uri="{BB962C8B-B14F-4D97-AF65-F5344CB8AC3E}">
        <p14:creationId xmlns:p14="http://schemas.microsoft.com/office/powerpoint/2010/main" val="6121002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726B6-0350-39FB-58A8-8B3D7F14B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07C3126B-DE36-575A-04D6-CC56FF788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3365" y="133392"/>
            <a:ext cx="7228093" cy="5898124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E6CF98B2-1818-AE64-6C96-8FD0C3D6F2B4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94FE324-05E4-6FB1-EC94-2824712B2B5B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11404F7-6F16-3311-F9F6-B9BEB86780AC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155E0DF-E465-6F2F-EC2C-75124D73B7F3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68A1F1C-BEE7-AA8D-0935-17976E037165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EED5773-4454-AAAD-9442-9B5A0C6CB66C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B9C265C-696D-42F5-3840-8B8AC7E72831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70334C1-94E6-D496-599F-FFFE87150904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26563A-6195-C1A0-4B22-D73A1CF86DAE}"/>
              </a:ext>
            </a:extLst>
          </p:cNvPr>
          <p:cNvSpPr txBox="1"/>
          <p:nvPr/>
        </p:nvSpPr>
        <p:spPr>
          <a:xfrm>
            <a:off x="242588" y="209592"/>
            <a:ext cx="10728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 err="1">
                <a:solidFill>
                  <a:srgbClr val="581308"/>
                </a:solidFill>
                <a:latin typeface="Agency FB" panose="020B0503020202020204" pitchFamily="34" charset="0"/>
              </a:rPr>
              <a:t>Dragonnet</a:t>
            </a:r>
            <a:r>
              <a:rPr lang="en-US" altLang="ko-KR" sz="3000" b="1" dirty="0">
                <a:solidFill>
                  <a:srgbClr val="581308"/>
                </a:solidFill>
                <a:latin typeface="Agency FB" panose="020B0503020202020204" pitchFamily="34" charset="0"/>
              </a:rPr>
              <a:t>-SHAP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3775F57-5BDE-558A-6B19-AEC37AC4E531}"/>
              </a:ext>
            </a:extLst>
          </p:cNvPr>
          <p:cNvSpPr/>
          <p:nvPr/>
        </p:nvSpPr>
        <p:spPr>
          <a:xfrm>
            <a:off x="588797" y="381229"/>
            <a:ext cx="10382751" cy="91557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3200" b="1" dirty="0">
                <a:latin typeface="Agency FB" panose="020B0503020202020204" pitchFamily="34" charset="0"/>
                <a:cs typeface="times" panose="02020603050405020304" pitchFamily="18" charset="0"/>
              </a:rPr>
              <a:t>SHAP</a:t>
            </a:r>
            <a:endParaRPr lang="ko-KR" altLang="en-US" sz="3200" b="1" dirty="0">
              <a:latin typeface="Agency FB" panose="020B0503020202020204" pitchFamily="34" charset="0"/>
              <a:cs typeface="times" panose="02020603050405020304" pitchFamily="18" charset="0"/>
            </a:endParaRPr>
          </a:p>
        </p:txBody>
      </p:sp>
      <p:sp>
        <p:nvSpPr>
          <p:cNvPr id="6" name="Google Shape;101;p3">
            <a:extLst>
              <a:ext uri="{FF2B5EF4-FFF2-40B4-BE49-F238E27FC236}">
                <a16:creationId xmlns:a16="http://schemas.microsoft.com/office/drawing/2014/main" id="{5FD90676-7D31-493D-E80A-ECD98C9AD4A3}"/>
              </a:ext>
            </a:extLst>
          </p:cNvPr>
          <p:cNvSpPr txBox="1"/>
          <p:nvPr/>
        </p:nvSpPr>
        <p:spPr>
          <a:xfrm>
            <a:off x="588795" y="1381054"/>
            <a:ext cx="10902043" cy="3647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0000"/>
              </a:lnSpc>
            </a:pP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3) SHAP </a:t>
            </a:r>
            <a:r>
              <a:rPr lang="en-US" altLang="ko-KR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Beeswarm</a:t>
            </a: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Plot</a:t>
            </a:r>
          </a:p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6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- </a:t>
            </a: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세로축</a:t>
            </a: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r>
              <a:rPr lang="ko-KR" altLang="en-US" sz="16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변수명</a:t>
            </a:r>
            <a:endParaRPr lang="en-US" altLang="ko-KR" sz="16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- </a:t>
            </a: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가로축</a:t>
            </a: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SHAP Value (</a:t>
            </a: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변수가 </a:t>
            </a: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ITE</a:t>
            </a: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얼마나 올렸는지</a:t>
            </a: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내렸는지</a:t>
            </a: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b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</a:t>
            </a: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오른쪽</a:t>
            </a: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(+</a:t>
            </a: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방향</a:t>
            </a: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 -&gt; </a:t>
            </a: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변수 때문에 효과가 커졌다</a:t>
            </a:r>
            <a:b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</a:t>
            </a: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왼쪽</a:t>
            </a: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(-</a:t>
            </a: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방향</a:t>
            </a: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 -&gt; </a:t>
            </a: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변수 때문에 효과가 작아졌다 또는 감소했다</a:t>
            </a: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b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b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- </a:t>
            </a: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점의 색깔</a:t>
            </a: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해당 변수의 값이 </a:t>
            </a: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</a:t>
            </a:r>
            <a:r>
              <a:rPr lang="ko-KR" altLang="en-US" sz="16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높은지</a:t>
            </a: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 </a:t>
            </a:r>
            <a:r>
              <a:rPr lang="ko-KR" altLang="en-US" sz="16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낮은지</a:t>
            </a: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”</a:t>
            </a:r>
            <a:b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</a:t>
            </a: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빨간색</a:t>
            </a: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 </a:t>
            </a:r>
            <a:r>
              <a:rPr lang="ko-KR" altLang="en-US" sz="16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변수값이</a:t>
            </a: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높은 고객</a:t>
            </a:r>
            <a:b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</a:t>
            </a: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파란색</a:t>
            </a: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 </a:t>
            </a:r>
            <a:r>
              <a:rPr lang="ko-KR" altLang="en-US" sz="16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변수값이</a:t>
            </a: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낮은 고객</a:t>
            </a:r>
            <a:b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b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ex) 1-month past spending </a:t>
            </a: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에서 </a:t>
            </a:r>
            <a:r>
              <a:rPr lang="ko-KR" altLang="en-US" sz="16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빨간점이</a:t>
            </a: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오른쪽에 많다</a:t>
            </a:r>
            <a:b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-&gt; </a:t>
            </a: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한달 전 소비가 높은 고객일수록 메시지 효과</a:t>
            </a: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(ITE)</a:t>
            </a: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 커진다</a:t>
            </a:r>
            <a:endParaRPr lang="en-US" altLang="ko-KR" sz="16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6541709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ECBD8-0D70-84C4-89AC-2AAB164C0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D51B6A3E-C02A-5A10-A8F7-131BDF1517D5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0BDBB35-D863-25C9-E622-81342952F94E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4987770-C8EC-4EE2-C33D-7875514DB2D9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04A28C8-AB5A-FE4D-664F-30597C781D52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BA2218-A671-193B-7840-91B3274FFC06}"/>
              </a:ext>
            </a:extLst>
          </p:cNvPr>
          <p:cNvSpPr txBox="1"/>
          <p:nvPr/>
        </p:nvSpPr>
        <p:spPr>
          <a:xfrm>
            <a:off x="242588" y="207931"/>
            <a:ext cx="10728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rgbClr val="581308"/>
                </a:solidFill>
                <a:latin typeface="Agency FB" panose="020B0503020202020204" pitchFamily="34" charset="0"/>
              </a:rPr>
              <a:t>[Appendix]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94F1C99-5EB1-BAA7-C399-0F39158A9619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790AF60-97ED-1736-D375-4178A1C09BC0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F4BA6FA-6F34-32E4-4D1A-235671DB31AA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8DD0F34-37A9-474D-A310-152CA0A2310A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97460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0FE45-F662-E467-D321-DDF5297D5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065C0F1F-D4E7-7603-F5AD-946068D865BA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233EA37-0267-6787-3CFE-15E48AA1C1C5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D3611E5-DDFE-77F3-D284-7948AD6DD49C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6BB2971-14EA-D2A2-95AC-9BC999E68E60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7182081-820B-1049-0711-F036CF68679B}"/>
              </a:ext>
            </a:extLst>
          </p:cNvPr>
          <p:cNvSpPr txBox="1"/>
          <p:nvPr/>
        </p:nvSpPr>
        <p:spPr>
          <a:xfrm>
            <a:off x="242588" y="207931"/>
            <a:ext cx="10728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rgbClr val="581308"/>
                </a:solidFill>
                <a:latin typeface="Agency FB" panose="020B0503020202020204" pitchFamily="34" charset="0"/>
              </a:rPr>
              <a:t>[Appendix]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859A9EC-27C4-195B-5AB3-6A4FBAF7D482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A4FDF26-223A-D24B-0E46-D04B4AF2FB86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1B02213-F04D-6460-E9C6-2AFB467BDB4F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BCE258-A85D-9621-B9F0-80F1CBB900E6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5DFE7A6-47A3-3569-EF54-DF2299C61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593" y="533004"/>
            <a:ext cx="6761784" cy="526459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0A096D5-8946-8A71-BA92-20EB8056F96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3800" r="33545"/>
          <a:stretch/>
        </p:blipFill>
        <p:spPr>
          <a:xfrm>
            <a:off x="260521" y="4531400"/>
            <a:ext cx="4699000" cy="9652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041BB44-67CB-E793-2E57-DF05EDC0362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63843" r="66345"/>
          <a:stretch/>
        </p:blipFill>
        <p:spPr>
          <a:xfrm>
            <a:off x="260521" y="5676644"/>
            <a:ext cx="5041900" cy="9652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E23BCB7-B688-63AD-3B55-93A99EE81AE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33755"/>
          <a:stretch/>
        </p:blipFill>
        <p:spPr>
          <a:xfrm>
            <a:off x="242588" y="901006"/>
            <a:ext cx="4660899" cy="339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5362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A7F5E-0602-BEA1-7341-E5A0C06A0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2E2A027B-C0F5-031D-7C08-31A8DE2711CA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6415941-873F-5B80-6712-ECC5AB59FB2A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53CA786-D7D5-A6B0-2A9E-E77B6AD5A621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929E963-963F-8F96-9AB2-42DA362FDD3C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FBFF59-B664-E5E2-8F40-9872F463D913}"/>
              </a:ext>
            </a:extLst>
          </p:cNvPr>
          <p:cNvSpPr txBox="1"/>
          <p:nvPr/>
        </p:nvSpPr>
        <p:spPr>
          <a:xfrm>
            <a:off x="242588" y="207931"/>
            <a:ext cx="10728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rgbClr val="581308"/>
                </a:solidFill>
                <a:latin typeface="Agency FB" panose="020B0503020202020204" pitchFamily="34" charset="0"/>
              </a:rPr>
              <a:t>[Appendix]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B038FFB-3FCE-7116-524D-A3C01EAF97D3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A6D0411-E083-F042-E0FB-60E06F55AE87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6226ED7-F7B5-4563-BEC8-7774929C9269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3D0F353-B249-D4D3-878A-11B007B3156E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6F484BA-AF9C-358B-6593-541E7D372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92" y="969791"/>
            <a:ext cx="6258053" cy="414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2959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A1BEA-1A65-2624-4861-5BF11930E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F6AE6258-1B8A-6E33-D3D5-92BC68A85B4F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08ED7A7-AF27-5985-6369-2AD07E713F6A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8B48B61-2B1B-4A84-E358-45701F5C08D4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A5115C5-5504-E6E5-B0ED-FB6A197D8605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C12F64-79E8-2041-4B18-440E97AE5735}"/>
              </a:ext>
            </a:extLst>
          </p:cNvPr>
          <p:cNvSpPr txBox="1"/>
          <p:nvPr/>
        </p:nvSpPr>
        <p:spPr>
          <a:xfrm>
            <a:off x="242588" y="207931"/>
            <a:ext cx="10728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rgbClr val="581308"/>
                </a:solidFill>
                <a:latin typeface="Agency FB" panose="020B0503020202020204" pitchFamily="34" charset="0"/>
              </a:rPr>
              <a:t>[Appendix]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FC43384-B63F-74BC-36E2-BA3E7CEE1BEF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188FE65-B0BE-FD8D-2D8E-AA7E5ABD577F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E0CFF54-FDE3-DC54-E64D-397580293711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B6F6C83-F10E-4FB7-44A1-E51DEFF8A9DD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2641660-70A2-73C7-AEB2-4A00BB843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92" y="969791"/>
            <a:ext cx="6258053" cy="414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2782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FF69E-47AC-7A42-EF2D-7A9A535F8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602FB09E-2FF9-2FBB-F68E-E286641C27E6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6F18CE1-18B4-25FE-8964-48557F73F1B2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14FF3C3-D1F7-CBA8-D872-C759281EDB55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F5CBE17-40D1-707F-99C4-283D2EE5F018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E698735-604A-D35F-7096-E3EE63854FE9}"/>
              </a:ext>
            </a:extLst>
          </p:cNvPr>
          <p:cNvSpPr txBox="1"/>
          <p:nvPr/>
        </p:nvSpPr>
        <p:spPr>
          <a:xfrm>
            <a:off x="242588" y="207931"/>
            <a:ext cx="10728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rgbClr val="581308"/>
                </a:solidFill>
                <a:latin typeface="Agency FB" panose="020B0503020202020204" pitchFamily="34" charset="0"/>
              </a:rPr>
              <a:t>[Appendix]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07BF805-696B-A91B-E924-DDDAEC506FB0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B2D34C2-C844-79E1-63DE-6391A76C0DA3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C36787E-AC84-7A54-5250-F06C1179A956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16B36E5-8DFC-3B3F-FCC2-ED8F5404E110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D917F12-4644-268E-B0D1-026DAA23E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62" y="701044"/>
            <a:ext cx="9802249" cy="6079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9017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BCF6D-FD25-710E-619D-E2F4CAF8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73DD1619-C300-7801-6096-1C5E06333B8E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3CDE20B-5AD3-7D1A-6EC3-BACB056E4EF2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682AD90-63E9-9DD7-6AEC-38AB85AF330F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DB13F61-3BC5-8E07-4A37-AB8AF299E30D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314328-D42D-0FE8-EFD0-E21A0225306E}"/>
              </a:ext>
            </a:extLst>
          </p:cNvPr>
          <p:cNvSpPr txBox="1"/>
          <p:nvPr/>
        </p:nvSpPr>
        <p:spPr>
          <a:xfrm>
            <a:off x="242588" y="207931"/>
            <a:ext cx="10728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rgbClr val="581308"/>
                </a:solidFill>
                <a:latin typeface="Agency FB" panose="020B0503020202020204" pitchFamily="34" charset="0"/>
              </a:rPr>
              <a:t>[Appendix]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2400E7F-B1F3-D831-1C51-6AFDB1647DFA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FF67ACA-E68A-DC48-4D84-67DBC1031DAA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449AFD3-C6DF-1982-7C84-95ACF30C0062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BD3134F-CDED-12A2-36AD-4836A4E4CD10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AFDB8C0-F239-9CD4-3EA4-8F6B89E5A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433" y="783765"/>
            <a:ext cx="10230115" cy="586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7465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91A6E6-9A2C-47D5-8383-B671FFC51BEF}"/>
              </a:ext>
            </a:extLst>
          </p:cNvPr>
          <p:cNvSpPr txBox="1"/>
          <p:nvPr/>
        </p:nvSpPr>
        <p:spPr>
          <a:xfrm>
            <a:off x="4563368" y="3075057"/>
            <a:ext cx="30652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solidFill>
                  <a:srgbClr val="581308"/>
                </a:solidFill>
              </a:rPr>
              <a:t>감사합니다</a:t>
            </a:r>
            <a:r>
              <a:rPr lang="en-US" altLang="ko-KR" sz="4000" b="1" dirty="0">
                <a:solidFill>
                  <a:srgbClr val="581308"/>
                </a:solidFill>
              </a:rPr>
              <a:t>. </a:t>
            </a:r>
            <a:endParaRPr lang="ko-KR" altLang="en-US" sz="4000" b="1" dirty="0">
              <a:solidFill>
                <a:srgbClr val="581308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B9D67FE-CB3A-AA8D-986E-FD416411D3DB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B96AB46-881C-76D5-D4BF-F6B19918A6D2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9DB044F-0DF6-6A7A-DB47-43903C0259C0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DB5E3EC-6BE6-FB70-4075-9F85E06A5C2A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736F12A-A4DD-66EC-D4E0-0C74E863B446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3F236FB-A29C-CA94-E347-53FF9E2327BF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CDFA149-C659-C057-2836-9118147A7CCA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B7DAF8A-B206-4172-EFB5-303DF65936E0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CA6246E-29D7-2745-155F-8D2CB4054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7407" y="274466"/>
            <a:ext cx="1676400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167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6129</TotalTime>
  <Words>2818</Words>
  <Application>Microsoft Office PowerPoint</Application>
  <PresentationFormat>와이드스크린</PresentationFormat>
  <Paragraphs>438</Paragraphs>
  <Slides>28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8" baseType="lpstr">
      <vt:lpstr>맑은 고딕</vt:lpstr>
      <vt:lpstr>맑은 고딕</vt:lpstr>
      <vt:lpstr>Abel</vt:lpstr>
      <vt:lpstr>Agency FB</vt:lpstr>
      <vt:lpstr>Arial</vt:lpstr>
      <vt:lpstr>Cambria Math</vt:lpstr>
      <vt:lpstr>Segoe UI Emoji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Cho Hyeongchan</dc:creator>
  <cp:lastModifiedBy>Hyeongchan Cho</cp:lastModifiedBy>
  <cp:revision>154</cp:revision>
  <dcterms:created xsi:type="dcterms:W3CDTF">2021-10-26T01:36:54Z</dcterms:created>
  <dcterms:modified xsi:type="dcterms:W3CDTF">2025-11-28T04:20:57Z</dcterms:modified>
</cp:coreProperties>
</file>